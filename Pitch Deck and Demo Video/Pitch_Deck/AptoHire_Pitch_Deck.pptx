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15" d="100"/>
          <a:sy n="115" d="100"/>
        </p:scale>
        <p:origin x="-396" y="-22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D6A84F"/>
                </a:solidFill>
                <a:latin typeface="Aptos"/>
              </a:defRPr>
            </a:pPr>
            <a: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5377882" cy="3139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dirty="0">
                <a:solidFill>
                  <a:schemeClr val="bg1"/>
                </a:solidFill>
              </a:rPr>
              <a:t>APTOHIRE  •  INVESTOR / JUDGING DECK  •  31 OCT 2026</a:t>
            </a:r>
          </a:p>
        </p:txBody>
      </p:sp>
      <p:sp>
        <p:nvSpPr>
          <p:cNvPr id="6" name="Oval 5"/>
          <p:cNvSpPr/>
          <p:nvPr/>
        </p:nvSpPr>
        <p:spPr>
          <a:xfrm>
            <a:off x="8549640" y="777240"/>
            <a:ext cx="2926080" cy="292608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46920" y="2011680"/>
            <a:ext cx="1600200" cy="1600200"/>
          </a:xfrm>
          <a:prstGeom prst="ellipse">
            <a:avLst/>
          </a:prstGeom>
          <a:solidFill>
            <a:srgbClr val="D6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863840" y="3246120"/>
            <a:ext cx="1005840" cy="1005840"/>
          </a:xfrm>
          <a:prstGeom prst="ellipse">
            <a:avLst/>
          </a:prstGeom>
          <a:solidFill>
            <a:srgbClr val="315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676656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1" i="0">
                <a:solidFill>
                  <a:srgbClr val="D6A84F"/>
                </a:solidFill>
                <a:latin typeface="Aptos"/>
              </a:defRPr>
            </a:pPr>
            <a:r>
              <a:t>SKILLS-FIRST HIRING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7132320" cy="10058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3400" b="1" i="0">
                <a:solidFill>
                  <a:srgbClr val="FFFFFF"/>
                </a:solidFill>
                <a:latin typeface="Aptos"/>
              </a:defRPr>
            </a:pPr>
            <a:r>
              <a:t>Talent is everywhere.</a:t>
            </a:r>
          </a:p>
          <a:p>
            <a:pPr algn="l">
              <a:spcAft>
                <a:spcPts val="500"/>
              </a:spcAft>
              <a:defRPr sz="3400" b="1" i="0">
                <a:solidFill>
                  <a:srgbClr val="FFFFFF"/>
                </a:solidFill>
                <a:latin typeface="Aptos"/>
              </a:defRPr>
            </a:pPr>
            <a:r>
              <a:t>Proof is harder to find.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794760"/>
            <a:ext cx="6217920" cy="4572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700" b="0" i="0">
                <a:solidFill>
                  <a:srgbClr val="D6DFE8"/>
                </a:solidFill>
                <a:latin typeface="Aptos"/>
              </a:defRPr>
            </a:pPr>
            <a:r>
              <a:t>AptoHire connects demonstrated skills with meaningful opportunities.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709160"/>
            <a:ext cx="3200400" cy="530352"/>
          </a:xfrm>
          <a:prstGeom prst="roundRect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837176"/>
            <a:ext cx="2926080" cy="21945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t>PROVE SKILLS  •  MATCH POTENTIAL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3560"/>
            <a:ext cx="3722237" cy="20621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1" i="0">
                <a:solidFill>
                  <a:srgbClr val="FFFFFF"/>
                </a:solidFill>
                <a:latin typeface="Aptos"/>
              </a:defRPr>
            </a:pPr>
            <a:r>
              <a:rPr dirty="0"/>
              <a:t>Ravi </a:t>
            </a:r>
            <a:r>
              <a:rPr dirty="0" err="1"/>
              <a:t>Prakash</a:t>
            </a:r>
            <a:r>
              <a:rPr dirty="0"/>
              <a:t>  ·  </a:t>
            </a:r>
            <a:r>
              <a:rPr dirty="0" err="1"/>
              <a:t>Mansi</a:t>
            </a:r>
            <a:r>
              <a:rPr dirty="0"/>
              <a:t> </a:t>
            </a:r>
            <a:r>
              <a:rPr dirty="0" err="1"/>
              <a:t>Kumawat</a:t>
            </a:r>
            <a:r>
              <a:rPr dirty="0"/>
              <a:t>  ·  </a:t>
            </a:r>
            <a:r>
              <a:rPr dirty="0" smtClean="0"/>
              <a:t>La</a:t>
            </a:r>
            <a:r>
              <a:rPr lang="en-IN" dirty="0" smtClean="0"/>
              <a:t>x</a:t>
            </a:r>
            <a:r>
              <a:rPr dirty="0" smtClean="0"/>
              <a:t>mi</a:t>
            </a:r>
            <a:r>
              <a:rPr lang="en-IN" dirty="0" smtClean="0"/>
              <a:t>n</a:t>
            </a:r>
            <a:r>
              <a:rPr dirty="0" err="1" smtClean="0"/>
              <a:t>arayan</a:t>
            </a:r>
            <a:r>
              <a:rPr lang="en-IN" dirty="0" smtClean="0"/>
              <a:t> </a:t>
            </a:r>
            <a:r>
              <a:rPr lang="en-IN" dirty="0" err="1" smtClean="0"/>
              <a:t>Sahu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36576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0" i="0">
                <a:solidFill>
                  <a:srgbClr val="B8C3D1"/>
                </a:solidFill>
                <a:latin typeface="Aptos"/>
              </a:defRPr>
            </a:pPr>
            <a:r>
              <a:t>India-first  |  University-first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APTOHIRE  •  INVESTOR / JUDGING DECK  •  31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900" b="1" i="0">
                <a:solidFill>
                  <a:srgbClr val="172033"/>
                </a:solidFill>
                <a:latin typeface="Aptos"/>
              </a:defRPr>
            </a:pPr>
            <a:r>
              <a:t>The hiring signal is noisy.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53312"/>
            <a:ext cx="10789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667085"/>
                </a:solidFill>
                <a:latin typeface="Aptos"/>
              </a:defRPr>
            </a:pPr>
            <a:r>
              <a:t>Students have skills. Employers need evidence. The signal between them is often weak.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40280"/>
            <a:ext cx="34290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68680" y="2514600"/>
            <a:ext cx="475488" cy="475488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633472"/>
            <a:ext cx="270972" cy="3139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dirty="0" smtClean="0"/>
              <a:t>0</a:t>
            </a:r>
            <a:r>
              <a:rPr lang="en-IN" dirty="0" smtClean="0"/>
              <a:t>1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896112" y="3200400"/>
            <a:ext cx="283464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500" b="1" i="0">
                <a:solidFill>
                  <a:srgbClr val="172033"/>
                </a:solidFill>
                <a:latin typeface="Aptos"/>
              </a:defRPr>
            </a:pPr>
            <a:r>
              <a:t>STUDENTS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657600"/>
            <a:ext cx="3082639" cy="76533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1F2937"/>
                </a:solidFill>
                <a:latin typeface="Aptos"/>
              </a:defRPr>
            </a:pPr>
            <a:r>
              <a:rPr dirty="0"/>
              <a:t>Projects and skills can be buried </a:t>
            </a:r>
            <a:r>
              <a:rPr dirty="0" smtClean="0"/>
              <a:t>beneath</a:t>
            </a:r>
            <a:endParaRPr lang="en-IN" dirty="0" smtClean="0"/>
          </a:p>
          <a:p>
            <a:pPr algn="l">
              <a:spcAft>
                <a:spcPts val="500"/>
              </a:spcAft>
              <a:defRPr sz="1300" b="0" i="0">
                <a:solidFill>
                  <a:srgbClr val="1F2937"/>
                </a:solidFill>
                <a:latin typeface="Aptos"/>
              </a:defRPr>
            </a:pPr>
            <a:r>
              <a:rPr dirty="0" smtClean="0"/>
              <a:t> </a:t>
            </a:r>
            <a:r>
              <a:rPr dirty="0"/>
              <a:t>grades, certificates and limited </a:t>
            </a:r>
            <a:endParaRPr lang="en-IN" dirty="0" smtClean="0"/>
          </a:p>
          <a:p>
            <a:pPr algn="l">
              <a:spcAft>
                <a:spcPts val="500"/>
              </a:spcAft>
              <a:defRPr sz="1300" b="0" i="0">
                <a:solidFill>
                  <a:srgbClr val="1F2937"/>
                </a:solidFill>
                <a:latin typeface="Aptos"/>
              </a:defRPr>
            </a:pPr>
            <a:r>
              <a:rPr dirty="0" smtClean="0"/>
              <a:t>experience</a:t>
            </a:r>
            <a:r>
              <a:rPr dirty="0"/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709160"/>
            <a:ext cx="2852928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1" i="0">
                <a:solidFill>
                  <a:srgbClr val="087A55"/>
                </a:solidFill>
                <a:latin typeface="Aptos"/>
              </a:defRPr>
            </a:pPr>
            <a:r>
              <a:t>Skills without visibility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2240280"/>
            <a:ext cx="34290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63440" y="2514600"/>
            <a:ext cx="475488" cy="475488"/>
          </a:xfrm>
          <a:prstGeom prst="ellipse">
            <a:avLst/>
          </a:prstGeom>
          <a:solidFill>
            <a:srgbClr val="D6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2633472"/>
            <a:ext cx="475488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200400"/>
            <a:ext cx="283464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500" b="1" i="0">
                <a:solidFill>
                  <a:srgbClr val="172033"/>
                </a:solidFill>
                <a:latin typeface="Aptos"/>
              </a:defRPr>
            </a:pPr>
            <a:r>
              <a:t>UNIVERSITIES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3657600"/>
            <a:ext cx="3093860" cy="76533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1F2937"/>
                </a:solidFill>
                <a:latin typeface="Aptos"/>
              </a:defRPr>
            </a:pPr>
            <a:r>
              <a:rPr dirty="0"/>
              <a:t>Career readiness is hard to </a:t>
            </a:r>
            <a:r>
              <a:rPr dirty="0" smtClean="0"/>
              <a:t>communicate</a:t>
            </a:r>
            <a:endParaRPr lang="en-IN" dirty="0" smtClean="0"/>
          </a:p>
          <a:p>
            <a:pPr algn="l">
              <a:spcAft>
                <a:spcPts val="500"/>
              </a:spcAft>
              <a:defRPr sz="1300" b="0" i="0">
                <a:solidFill>
                  <a:srgbClr val="1F2937"/>
                </a:solidFill>
                <a:latin typeface="Aptos"/>
              </a:defRPr>
            </a:pPr>
            <a:r>
              <a:rPr dirty="0" smtClean="0"/>
              <a:t>when </a:t>
            </a:r>
            <a:r>
              <a:rPr dirty="0"/>
              <a:t>practical capability is scattered </a:t>
            </a:r>
            <a:endParaRPr lang="en-IN" dirty="0" smtClean="0"/>
          </a:p>
          <a:p>
            <a:pPr algn="l">
              <a:spcAft>
                <a:spcPts val="500"/>
              </a:spcAft>
              <a:defRPr sz="1300" b="0" i="0">
                <a:solidFill>
                  <a:srgbClr val="1F2937"/>
                </a:solidFill>
                <a:latin typeface="Aptos"/>
              </a:defRPr>
            </a:pPr>
            <a:r>
              <a:rPr dirty="0" smtClean="0"/>
              <a:t>across </a:t>
            </a:r>
            <a:r>
              <a:rPr dirty="0"/>
              <a:t>systems.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4709160"/>
            <a:ext cx="2852928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1" i="0">
                <a:solidFill>
                  <a:srgbClr val="087A55"/>
                </a:solidFill>
                <a:latin typeface="Aptos"/>
              </a:defRPr>
            </a:pPr>
            <a:r>
              <a:t>Learning without clear proof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2240280"/>
            <a:ext cx="34290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458200" y="2514600"/>
            <a:ext cx="475488" cy="475488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58200" y="2633472"/>
            <a:ext cx="270972" cy="3139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dirty="0" smtClean="0"/>
              <a:t>0</a:t>
            </a:r>
            <a:r>
              <a:rPr lang="en-IN" dirty="0" smtClean="0"/>
              <a:t>3</a:t>
            </a:r>
            <a:endParaRPr dirty="0"/>
          </a:p>
        </p:txBody>
      </p:sp>
      <p:sp>
        <p:nvSpPr>
          <p:cNvPr id="23" name="TextBox 22"/>
          <p:cNvSpPr txBox="1"/>
          <p:nvPr/>
        </p:nvSpPr>
        <p:spPr>
          <a:xfrm>
            <a:off x="8485632" y="3200400"/>
            <a:ext cx="283464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500" b="1" i="0">
                <a:solidFill>
                  <a:srgbClr val="172033"/>
                </a:solidFill>
                <a:latin typeface="Aptos"/>
              </a:defRPr>
            </a:pPr>
            <a:r>
              <a:t>EMPLOYERS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3657600"/>
            <a:ext cx="2710742" cy="76533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1F2937"/>
                </a:solidFill>
                <a:latin typeface="Aptos"/>
              </a:defRPr>
            </a:pPr>
            <a:r>
              <a:rPr dirty="0"/>
              <a:t>Resumes and keywords create </a:t>
            </a:r>
            <a:endParaRPr lang="en-IN" dirty="0" smtClean="0"/>
          </a:p>
          <a:p>
            <a:pPr algn="l">
              <a:spcAft>
                <a:spcPts val="500"/>
              </a:spcAft>
              <a:defRPr sz="1300" b="0" i="0">
                <a:solidFill>
                  <a:srgbClr val="1F2937"/>
                </a:solidFill>
                <a:latin typeface="Aptos"/>
              </a:defRPr>
            </a:pPr>
            <a:r>
              <a:rPr dirty="0" smtClean="0"/>
              <a:t>volume—but </a:t>
            </a:r>
            <a:r>
              <a:rPr dirty="0"/>
              <a:t>not always confidence </a:t>
            </a:r>
            <a:endParaRPr lang="en-IN" dirty="0" smtClean="0"/>
          </a:p>
          <a:p>
            <a:pPr algn="l">
              <a:spcAft>
                <a:spcPts val="500"/>
              </a:spcAft>
              <a:defRPr sz="1300" b="0" i="0">
                <a:solidFill>
                  <a:srgbClr val="1F2937"/>
                </a:solidFill>
                <a:latin typeface="Aptos"/>
              </a:defRPr>
            </a:pPr>
            <a:r>
              <a:rPr dirty="0" smtClean="0"/>
              <a:t>in </a:t>
            </a:r>
            <a:r>
              <a:rPr dirty="0"/>
              <a:t>practical ability.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5632" y="4709160"/>
            <a:ext cx="2852928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1" i="0">
                <a:solidFill>
                  <a:srgbClr val="087A55"/>
                </a:solidFill>
                <a:latin typeface="Aptos"/>
              </a:defRPr>
            </a:pPr>
            <a:r>
              <a:t>Too many profiles, thin evidence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" y="5486400"/>
            <a:ext cx="10149840" cy="566928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34440" y="5650992"/>
            <a:ext cx="9692640" cy="21945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500" b="1" i="0">
                <a:solidFill>
                  <a:srgbClr val="FFFFFF"/>
                </a:solidFill>
                <a:latin typeface="Aptos"/>
              </a:defRPr>
            </a:pPr>
            <a:r>
              <a:t>THE GAP: having skills is not the same as being recognized for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APTOHIRE  •  INVESTOR / JUDGING DECK  •  31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900" b="1" i="0">
                <a:solidFill>
                  <a:srgbClr val="172033"/>
                </a:solidFill>
                <a:latin typeface="Aptos"/>
              </a:defRPr>
            </a:pPr>
            <a:r>
              <a:t>A large education system. A persistent skills-signalling challenge.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53312"/>
            <a:ext cx="10789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667085"/>
                </a:solidFill>
                <a:latin typeface="Aptos"/>
              </a:defRPr>
            </a:pPr>
            <a:r>
              <a:t>Context establishes the scale of the problem—not AptoHire’s traction or addressable market.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32461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2788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700" b="1" i="0">
                <a:solidFill>
                  <a:srgbClr val="087A55"/>
                </a:solidFill>
                <a:latin typeface="Aptos"/>
              </a:defRPr>
            </a:pPr>
            <a:r>
              <a:t>4.50 crore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274320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1" i="0">
                <a:solidFill>
                  <a:srgbClr val="172033"/>
                </a:solidFill>
                <a:latin typeface="Aptos"/>
              </a:defRPr>
            </a:pPr>
            <a:r>
              <a:t>Higher-ed enrolments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520440"/>
            <a:ext cx="2743200" cy="3657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0" i="0">
                <a:solidFill>
                  <a:srgbClr val="667085"/>
                </a:solidFill>
                <a:latin typeface="Aptos"/>
              </a:defRPr>
            </a:pPr>
            <a:r>
              <a:t>India, AISHE 2023–24 release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240280"/>
            <a:ext cx="32461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2514600"/>
            <a:ext cx="2788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700" b="1" i="0">
                <a:solidFill>
                  <a:srgbClr val="087A55"/>
                </a:solidFill>
                <a:latin typeface="Aptos"/>
              </a:defRPr>
            </a:pPr>
            <a:r>
              <a:t>64,756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54680"/>
            <a:ext cx="274320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1" i="0">
                <a:solidFill>
                  <a:srgbClr val="172033"/>
                </a:solidFill>
                <a:latin typeface="Aptos"/>
              </a:defRPr>
            </a:pPr>
            <a:r>
              <a:t>Registered institutions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520440"/>
            <a:ext cx="2743200" cy="3657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0" i="0">
                <a:solidFill>
                  <a:srgbClr val="667085"/>
                </a:solidFill>
                <a:latin typeface="Aptos"/>
              </a:defRPr>
            </a:pPr>
            <a:r>
              <a:t>AISHE 2023–24 survey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240280"/>
            <a:ext cx="32461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2514600"/>
            <a:ext cx="2788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700" b="1" i="0">
                <a:solidFill>
                  <a:srgbClr val="087A55"/>
                </a:solidFill>
                <a:latin typeface="Aptos"/>
              </a:defRPr>
            </a:pPr>
            <a:r>
              <a:t>42.6%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154680"/>
            <a:ext cx="274320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1" i="0">
                <a:solidFill>
                  <a:srgbClr val="172033"/>
                </a:solidFill>
                <a:latin typeface="Aptos"/>
              </a:defRPr>
            </a:pPr>
            <a:r>
              <a:t>Graduate employability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520440"/>
            <a:ext cx="2743200" cy="3657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0" i="0">
                <a:solidFill>
                  <a:srgbClr val="667085"/>
                </a:solidFill>
                <a:latin typeface="Aptos"/>
              </a:defRPr>
            </a:pPr>
            <a:r>
              <a:t>Mercer | Mettl GSI 2025; job-applicant sample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526280"/>
            <a:ext cx="10652760" cy="1005840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4754880"/>
            <a:ext cx="10149840" cy="47548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500" b="1" i="0">
                <a:solidFill>
                  <a:srgbClr val="172033"/>
                </a:solidFill>
                <a:latin typeface="Aptos"/>
              </a:defRPr>
            </a:pPr>
            <a:r>
              <a:t>Our wedge is not “every student is a customer.” It is a focused institution workflow with measurable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806440"/>
            <a:ext cx="1042416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0" i="0">
                <a:solidFill>
                  <a:srgbClr val="667085"/>
                </a:solidFill>
                <a:latin typeface="Aptos"/>
              </a:defRPr>
            </a:pPr>
            <a:r>
              <a:t>Sources: Ministry of Education / PIB, AISHE release (2023–24); Mercer | Mettl, India’s Graduate Skill Index 2025.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D6A84F"/>
                </a:solidFill>
                <a:latin typeface="Aptos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APTOHIRE  •  INVESTOR / JUDGING DECK  •  31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900" b="1" i="0">
                <a:solidFill>
                  <a:srgbClr val="FFFFFF"/>
                </a:solidFill>
                <a:latin typeface="Aptos"/>
              </a:defRPr>
            </a:pPr>
            <a:r>
              <a:t>Meet AptoHire.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53312"/>
            <a:ext cx="10789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D6DFE8"/>
                </a:solidFill>
                <a:latin typeface="Aptos"/>
              </a:defRPr>
            </a:pPr>
            <a:r>
              <a:t>An AI-first, skills-first layer between education and employment—turning project evidence into trusted skill signals.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331720"/>
            <a:ext cx="3154680" cy="1920240"/>
          </a:xfrm>
          <a:prstGeom prst="roundRect">
            <a:avLst/>
          </a:prstGeom>
          <a:solidFill>
            <a:srgbClr val="25334A"/>
          </a:solidFill>
          <a:ln w="12700">
            <a:solidFill>
              <a:srgbClr val="3D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51560" y="2606040"/>
            <a:ext cx="502920" cy="50292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270972" cy="3139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dirty="0" smtClean="0"/>
              <a:t>0</a:t>
            </a:r>
            <a:r>
              <a:rPr lang="en-IN" dirty="0" smtClean="0"/>
              <a:t>1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1078992" y="3337560"/>
            <a:ext cx="25603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600" b="1" i="0">
                <a:solidFill>
                  <a:srgbClr val="FFFFFF"/>
                </a:solidFill>
                <a:latin typeface="Aptos"/>
              </a:defRPr>
            </a:pPr>
            <a:r>
              <a:t>SHOW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749039"/>
            <a:ext cx="2606040" cy="4572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0" i="0">
                <a:solidFill>
                  <a:srgbClr val="D6DFE8"/>
                </a:solidFill>
                <a:latin typeface="Aptos"/>
              </a:defRPr>
            </a:pPr>
            <a:r>
              <a:t>Skills, projects &amp; supporting evidence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23360" y="3291840"/>
            <a:ext cx="457200" cy="0"/>
          </a:xfrm>
          <a:prstGeom prst="line">
            <a:avLst/>
          </a:prstGeom>
          <a:ln w="25400">
            <a:solidFill>
              <a:srgbClr val="D6A8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2000" y="2331720"/>
            <a:ext cx="3154680" cy="1920240"/>
          </a:xfrm>
          <a:prstGeom prst="roundRect">
            <a:avLst/>
          </a:prstGeom>
          <a:solidFill>
            <a:srgbClr val="25334A"/>
          </a:solidFill>
          <a:ln w="12700">
            <a:solidFill>
              <a:srgbClr val="3D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800600" y="2606040"/>
            <a:ext cx="502920" cy="502920"/>
          </a:xfrm>
          <a:prstGeom prst="ellipse">
            <a:avLst/>
          </a:prstGeom>
          <a:solidFill>
            <a:srgbClr val="D6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00600" y="2743200"/>
            <a:ext cx="270972" cy="3139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dirty="0" smtClean="0"/>
              <a:t>0</a:t>
            </a:r>
            <a:r>
              <a:rPr lang="en-IN" dirty="0" smtClean="0"/>
              <a:t>2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4828032" y="3337560"/>
            <a:ext cx="25603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600" b="1" i="0">
                <a:solidFill>
                  <a:srgbClr val="FFFFFF"/>
                </a:solidFill>
                <a:latin typeface="Aptos"/>
              </a:defRPr>
            </a:pPr>
            <a:r>
              <a:t>DISCOVER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3749039"/>
            <a:ext cx="2606040" cy="4572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0" i="0">
                <a:solidFill>
                  <a:srgbClr val="D6DFE8"/>
                </a:solidFill>
                <a:latin typeface="Aptos"/>
              </a:defRPr>
            </a:pPr>
            <a:r>
              <a:t>Explore relevant capabilities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72400" y="3291840"/>
            <a:ext cx="457200" cy="0"/>
          </a:xfrm>
          <a:prstGeom prst="line">
            <a:avLst/>
          </a:prstGeom>
          <a:ln w="25400">
            <a:solidFill>
              <a:srgbClr val="D6A8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321040" y="2331720"/>
            <a:ext cx="3154680" cy="1920240"/>
          </a:xfrm>
          <a:prstGeom prst="roundRect">
            <a:avLst/>
          </a:prstGeom>
          <a:solidFill>
            <a:srgbClr val="25334A"/>
          </a:solidFill>
          <a:ln w="12700">
            <a:solidFill>
              <a:srgbClr val="3D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549640" y="2606040"/>
            <a:ext cx="502920" cy="50292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49640" y="2743200"/>
            <a:ext cx="270972" cy="3139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rPr dirty="0" smtClean="0"/>
              <a:t>0</a:t>
            </a:r>
            <a:r>
              <a:rPr lang="en-IN" dirty="0" smtClean="0"/>
              <a:t>3</a:t>
            </a:r>
            <a:endParaRPr dirty="0"/>
          </a:p>
        </p:txBody>
      </p:sp>
      <p:sp>
        <p:nvSpPr>
          <p:cNvPr id="23" name="TextBox 22"/>
          <p:cNvSpPr txBox="1"/>
          <p:nvPr/>
        </p:nvSpPr>
        <p:spPr>
          <a:xfrm>
            <a:off x="8577072" y="3337560"/>
            <a:ext cx="25603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600" b="1" i="0">
                <a:solidFill>
                  <a:srgbClr val="FFFFFF"/>
                </a:solidFill>
                <a:latin typeface="Aptos"/>
              </a:defRPr>
            </a:pPr>
            <a:r>
              <a:t>CONNECT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3820" y="3749039"/>
            <a:ext cx="2322815" cy="470385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0" i="0">
                <a:solidFill>
                  <a:srgbClr val="D6DFE8"/>
                </a:solidFill>
                <a:latin typeface="Aptos"/>
              </a:defRPr>
            </a:pPr>
            <a:r>
              <a:rPr dirty="0"/>
              <a:t>Create a more meaningful path </a:t>
            </a:r>
            <a:r>
              <a:rPr dirty="0" smtClean="0"/>
              <a:t>to</a:t>
            </a:r>
            <a:endParaRPr lang="en-IN" dirty="0" smtClean="0"/>
          </a:p>
          <a:p>
            <a:pPr algn="l">
              <a:spcAft>
                <a:spcPts val="500"/>
              </a:spcAft>
              <a:defRPr sz="1200" b="0" i="0">
                <a:solidFill>
                  <a:srgbClr val="D6DFE8"/>
                </a:solidFill>
                <a:latin typeface="Aptos"/>
              </a:defRPr>
            </a:pPr>
            <a:r>
              <a:rPr dirty="0" smtClean="0"/>
              <a:t>opportunity</a:t>
            </a:r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914400" y="4983480"/>
            <a:ext cx="10058400" cy="4572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700" b="1" i="0">
                <a:solidFill>
                  <a:srgbClr val="D6A84F"/>
                </a:solidFill>
                <a:latin typeface="Aptos"/>
              </a:defRPr>
            </a:pPr>
            <a:r>
              <a:t>Not another job board. A proposed evidence-led workflow for skills visibility and talent discovery.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669280"/>
            <a:ext cx="987552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0" i="1">
                <a:solidFill>
                  <a:srgbClr val="B8C3D1"/>
                </a:solidFill>
                <a:latin typeface="Aptos"/>
              </a:defRPr>
            </a:pPr>
            <a:r>
              <a:t>Core product claims should be shown only where the current build supports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PRODUCT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APTOHIRE  •  INVESTOR / JUDGING DECK  •  31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900" b="1" i="0">
                <a:solidFill>
                  <a:srgbClr val="172033"/>
                </a:solidFill>
                <a:latin typeface="Aptos"/>
              </a:defRPr>
            </a:pPr>
            <a:r>
              <a:t>One platform. Three connected perspectives.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53312"/>
            <a:ext cx="10789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667085"/>
                </a:solidFill>
                <a:latin typeface="Aptos"/>
              </a:defRPr>
            </a:pPr>
            <a:r>
              <a:t>AI sits across the journey: recommend projects → audit proof → match skills → keep profiles current.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34290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" y="2057400"/>
            <a:ext cx="3429000" cy="384048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167128"/>
            <a:ext cx="2560320" cy="14630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FFFFFF"/>
                </a:solidFill>
                <a:latin typeface="Aptos"/>
              </a:defRPr>
            </a:pPr>
            <a:r>
              <a:t>STUDENT PROFILE</a:t>
            </a:r>
          </a:p>
        </p:txBody>
      </p:sp>
      <p:sp>
        <p:nvSpPr>
          <p:cNvPr id="11" name="Oval 10"/>
          <p:cNvSpPr/>
          <p:nvPr/>
        </p:nvSpPr>
        <p:spPr>
          <a:xfrm>
            <a:off x="960120" y="2697480"/>
            <a:ext cx="566928" cy="566928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91640" y="2724912"/>
            <a:ext cx="1828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1" i="0">
                <a:solidFill>
                  <a:srgbClr val="172033"/>
                </a:solidFill>
                <a:latin typeface="Aptos"/>
              </a:defRPr>
            </a:pPr>
            <a:r>
              <a:t>Candidate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474720"/>
            <a:ext cx="1325880" cy="310896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2" y="3506724"/>
            <a:ext cx="1179576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JavaScript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3913631"/>
            <a:ext cx="914400" cy="310896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33272" y="3945635"/>
            <a:ext cx="768096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React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4352544"/>
            <a:ext cx="1920240" cy="310896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33272" y="4384548"/>
            <a:ext cx="1773936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Project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057400"/>
            <a:ext cx="34290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389120" y="2057400"/>
            <a:ext cx="3429000" cy="384048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17720" y="2167128"/>
            <a:ext cx="2560320" cy="14630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FFFFFF"/>
                </a:solidFill>
                <a:latin typeface="Aptos"/>
              </a:defRPr>
            </a:pPr>
            <a:r>
              <a:t>EMPLOYER 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697480"/>
            <a:ext cx="265176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1" i="0">
                <a:solidFill>
                  <a:srgbClr val="172033"/>
                </a:solidFill>
                <a:latin typeface="Aptos"/>
              </a:defRPr>
            </a:pPr>
            <a:r>
              <a:t>Role requirements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3154680"/>
            <a:ext cx="2468880" cy="292608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800600" y="3227832"/>
            <a:ext cx="118872" cy="118872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047488" y="3236976"/>
            <a:ext cx="1874520" cy="82296"/>
          </a:xfrm>
          <a:prstGeom prst="roundRect">
            <a:avLst/>
          </a:prstGeom>
          <a:solidFill>
            <a:srgbClr val="A8B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663440" y="3657600"/>
            <a:ext cx="2057400" cy="292608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800600" y="3730752"/>
            <a:ext cx="118872" cy="118872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47488" y="3739896"/>
            <a:ext cx="1463040" cy="82296"/>
          </a:xfrm>
          <a:prstGeom prst="roundRect">
            <a:avLst/>
          </a:prstGeom>
          <a:solidFill>
            <a:srgbClr val="A8B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663440" y="4160520"/>
            <a:ext cx="2331720" cy="292608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800600" y="4233672"/>
            <a:ext cx="118872" cy="118872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047488" y="4242816"/>
            <a:ext cx="1737360" cy="82296"/>
          </a:xfrm>
          <a:prstGeom prst="roundRect">
            <a:avLst/>
          </a:prstGeom>
          <a:solidFill>
            <a:srgbClr val="A8B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092440" y="2057400"/>
            <a:ext cx="34290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092440" y="2057400"/>
            <a:ext cx="3429000" cy="384048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21040" y="2167128"/>
            <a:ext cx="2560320" cy="14630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FFFFFF"/>
                </a:solidFill>
                <a:latin typeface="Aptos"/>
              </a:defRPr>
            </a:pPr>
            <a:r>
              <a:t>UNIVERSITY 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2697480"/>
            <a:ext cx="265176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1" i="0">
                <a:solidFill>
                  <a:srgbClr val="172033"/>
                </a:solidFill>
                <a:latin typeface="Aptos"/>
              </a:defRPr>
            </a:pPr>
            <a:r>
              <a:t>Career readiness</a:t>
            </a:r>
          </a:p>
        </p:txBody>
      </p:sp>
      <p:sp>
        <p:nvSpPr>
          <p:cNvPr id="36" name="Oval 35"/>
          <p:cNvSpPr/>
          <p:nvPr/>
        </p:nvSpPr>
        <p:spPr>
          <a:xfrm>
            <a:off x="8394192" y="3200400"/>
            <a:ext cx="274320" cy="27432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94192" y="3264408"/>
            <a:ext cx="274320" cy="10972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3227832"/>
            <a:ext cx="2057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1" i="0">
                <a:solidFill>
                  <a:srgbClr val="1F2937"/>
                </a:solidFill>
                <a:latin typeface="Aptos"/>
              </a:defRPr>
            </a:pPr>
            <a:r>
              <a:t>Skills visibility</a:t>
            </a:r>
          </a:p>
        </p:txBody>
      </p:sp>
      <p:sp>
        <p:nvSpPr>
          <p:cNvPr id="39" name="Oval 38"/>
          <p:cNvSpPr/>
          <p:nvPr/>
        </p:nvSpPr>
        <p:spPr>
          <a:xfrm>
            <a:off x="8394192" y="3721608"/>
            <a:ext cx="274320" cy="27432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94192" y="3785615"/>
            <a:ext cx="274320" cy="10972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23960" y="3749039"/>
            <a:ext cx="2057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1" i="0">
                <a:solidFill>
                  <a:srgbClr val="1F2937"/>
                </a:solidFill>
                <a:latin typeface="Aptos"/>
              </a:defRPr>
            </a:pPr>
            <a:r>
              <a:t>Project evidence</a:t>
            </a:r>
          </a:p>
        </p:txBody>
      </p:sp>
      <p:sp>
        <p:nvSpPr>
          <p:cNvPr id="42" name="Oval 41"/>
          <p:cNvSpPr/>
          <p:nvPr/>
        </p:nvSpPr>
        <p:spPr>
          <a:xfrm>
            <a:off x="8394192" y="4242816"/>
            <a:ext cx="274320" cy="27432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94192" y="4306824"/>
            <a:ext cx="274320" cy="10972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23960" y="4270248"/>
            <a:ext cx="2057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1" i="0">
                <a:solidFill>
                  <a:srgbClr val="1F2937"/>
                </a:solidFill>
                <a:latin typeface="Aptos"/>
              </a:defRPr>
            </a:pPr>
            <a:r>
              <a:t>Pilot outcomes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715000"/>
            <a:ext cx="1051560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1" i="0">
                <a:solidFill>
                  <a:srgbClr val="B54745"/>
                </a:solidFill>
                <a:latin typeface="Aptos"/>
              </a:defRPr>
            </a:pPr>
            <a:r>
              <a:t>Demo rule: show live workflows, permissions and evidence states—not aspirational screens as if already shipped.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1000" b="1">
                <a:solidFill>
                  <a:srgbClr val="087A55"/>
                </a:solidFill>
                <a:latin typeface="Aptos"/>
              </a:defRPr>
            </a:pPr>
            <a:r>
              <a:t>AI-FIRST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292608"/>
            <a:ext cx="594360" cy="22860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972800" cy="56692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2800" b="1">
                <a:solidFill>
                  <a:srgbClr val="172033"/>
                </a:solidFill>
                <a:latin typeface="Aptos"/>
              </a:defRPr>
            </a:pPr>
            <a:r>
              <a:t>AI is the operating layer—not an add-on.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61872"/>
            <a:ext cx="10789920" cy="41148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1300" b="0">
                <a:solidFill>
                  <a:srgbClr val="667085"/>
                </a:solidFill>
                <a:latin typeface="Aptos"/>
              </a:defRPr>
            </a:pPr>
            <a:r>
              <a:rPr dirty="0"/>
              <a:t>n8n coordinates specialist agents that turn student evidence into skill intelligence and relevant opportunity.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65960"/>
            <a:ext cx="2633472" cy="1965960"/>
          </a:xfrm>
          <a:prstGeom prst="roundRect">
            <a:avLst/>
          </a:prstGeom>
          <a:solidFill>
            <a:srgbClr val="EAF5EF"/>
          </a:solidFill>
          <a:ln>
            <a:solidFill>
              <a:srgbClr val="DAE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112264"/>
            <a:ext cx="2304288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900" b="1">
                <a:solidFill>
                  <a:srgbClr val="087A55"/>
                </a:solidFill>
                <a:latin typeface="Aptos"/>
              </a:defRPr>
            </a:pPr>
            <a:r>
              <a:t>AGENT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95728"/>
            <a:ext cx="2304288" cy="34747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1600" b="1">
                <a:solidFill>
                  <a:srgbClr val="172033"/>
                </a:solidFill>
                <a:latin typeface="Aptos"/>
              </a:defRPr>
            </a:pPr>
            <a:r>
              <a:t>Multi-Model Proof Audit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41878"/>
            <a:ext cx="2304288" cy="1024127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rPr dirty="0"/>
              <a:t>Audio + visual + script/transcript + project </a:t>
            </a:r>
            <a:r>
              <a:rPr dirty="0" err="1"/>
              <a:t>artefacts</a:t>
            </a:r>
            <a:r>
              <a:rPr dirty="0"/>
              <a:t> → rubric scores, evidence links and confidence flags.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965960"/>
            <a:ext cx="2633472" cy="1965960"/>
          </a:xfrm>
          <a:prstGeom prst="roundRect">
            <a:avLst/>
          </a:prstGeom>
          <a:solidFill>
            <a:srgbClr val="EAF5EF"/>
          </a:solidFill>
          <a:ln>
            <a:solidFill>
              <a:srgbClr val="DAE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9584" y="2112264"/>
            <a:ext cx="2304288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900" b="1">
                <a:solidFill>
                  <a:srgbClr val="087A55"/>
                </a:solidFill>
                <a:latin typeface="Aptos"/>
              </a:defRPr>
            </a:pPr>
            <a:r>
              <a:t>AGENT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395728"/>
            <a:ext cx="2304288" cy="34747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1600" b="1">
                <a:solidFill>
                  <a:srgbClr val="172033"/>
                </a:solidFill>
                <a:latin typeface="Aptos"/>
              </a:defRPr>
            </a:pPr>
            <a:r>
              <a:t>Predictive Blind Matching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58504"/>
            <a:ext cx="2304288" cy="1024127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rPr dirty="0"/>
              <a:t>Role requirements + verified skill signals → </a:t>
            </a:r>
            <a:r>
              <a:rPr dirty="0" err="1"/>
              <a:t>anonymized</a:t>
            </a:r>
            <a:r>
              <a:rPr dirty="0"/>
              <a:t> ranked candidates with explainable match reasons.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65960"/>
            <a:ext cx="2633472" cy="1965960"/>
          </a:xfrm>
          <a:prstGeom prst="roundRect">
            <a:avLst/>
          </a:prstGeom>
          <a:solidFill>
            <a:srgbClr val="EAF5EF"/>
          </a:solidFill>
          <a:ln>
            <a:solidFill>
              <a:srgbClr val="DAE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7648" y="2112264"/>
            <a:ext cx="2304288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900" b="1">
                <a:solidFill>
                  <a:srgbClr val="087A55"/>
                </a:solidFill>
                <a:latin typeface="Aptos"/>
              </a:defRPr>
            </a:pPr>
            <a:r>
              <a:t>AGENT 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2395728"/>
            <a:ext cx="2304288" cy="34747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1600" b="1">
                <a:solidFill>
                  <a:srgbClr val="172033"/>
                </a:solidFill>
                <a:latin typeface="Aptos"/>
              </a:defRPr>
            </a:pPr>
            <a:r>
              <a:t>Profile Update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825496"/>
            <a:ext cx="2304288" cy="1024127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rPr dirty="0"/>
              <a:t>With student permission, helps refresh profile, project and resume information and lifecycle status.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965960"/>
            <a:ext cx="2633472" cy="1965960"/>
          </a:xfrm>
          <a:prstGeom prst="roundRect">
            <a:avLst/>
          </a:prstGeom>
          <a:solidFill>
            <a:srgbClr val="EAF5EF"/>
          </a:solidFill>
          <a:ln>
            <a:solidFill>
              <a:srgbClr val="DAE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25712" y="2112264"/>
            <a:ext cx="2304288" cy="201168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900" b="1">
                <a:solidFill>
                  <a:srgbClr val="087A55"/>
                </a:solidFill>
                <a:latin typeface="Aptos"/>
              </a:defRPr>
            </a:pPr>
            <a:r>
              <a:t>SUPPORTING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2395728"/>
            <a:ext cx="2304288" cy="34747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1600" b="1">
                <a:solidFill>
                  <a:srgbClr val="172033"/>
                </a:solidFill>
                <a:latin typeface="Aptos"/>
              </a:defRPr>
            </a:pPr>
            <a:r>
              <a:t>AI Project Recommendation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5712" y="2908626"/>
            <a:ext cx="2304288" cy="1024127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rPr dirty="0"/>
              <a:t>Target skill + level → tailored project brief; completed work flows back into the proof audit.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251960"/>
            <a:ext cx="10927080" cy="713232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4416552"/>
            <a:ext cx="1920240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1100" b="1">
                <a:solidFill>
                  <a:srgbClr val="D6A84F"/>
                </a:solidFill>
                <a:latin typeface="Aptos"/>
              </a:defRPr>
            </a:pPr>
            <a:r>
              <a:t>n8n ORCHESTRATION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416552"/>
            <a:ext cx="8412480" cy="25603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defRPr sz="1000" b="0">
                <a:solidFill>
                  <a:srgbClr val="FFFFFF"/>
                </a:solidFill>
                <a:latin typeface="Aptos"/>
              </a:defRPr>
            </a:pPr>
            <a:r>
              <a:t>Triggers  ·  validation  ·  routing  ·  model/API calls  ·  retries  ·  output checks  ·  monitoring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30368"/>
            <a:ext cx="10698480" cy="34747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>
              <a:defRPr sz="1300" b="1">
                <a:solidFill>
                  <a:srgbClr val="087A55"/>
                </a:solidFill>
                <a:latin typeface="Aptos"/>
              </a:defRPr>
            </a:pPr>
            <a:r>
              <a:t>Student evidence → AI audit → living skill scorecard → blind match → consent-based identity reveal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742432"/>
            <a:ext cx="10698480" cy="320040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ctr">
              <a:defRPr sz="1000" b="0">
                <a:solidFill>
                  <a:srgbClr val="667085"/>
                </a:solidFill>
                <a:latin typeface="Aptos"/>
              </a:defRPr>
            </a:pPr>
            <a:r>
              <a:t>Human review for uncertain audits and appeals. AI supports decisions; it does not make final hiring decisions.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r>
              <a:t>APTOHIRE  •  INVESTOR / JUDGING DECK  •  31 OCT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APTOHIRE  •  INVESTOR / JUDGING DECK  •  31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900" b="1" i="0">
                <a:solidFill>
                  <a:srgbClr val="172033"/>
                </a:solidFill>
                <a:latin typeface="Aptos"/>
              </a:defRPr>
            </a:pPr>
            <a:r>
              <a:t>The bet: make capability easier to inspect.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53312"/>
            <a:ext cx="10789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667085"/>
                </a:solidFill>
                <a:latin typeface="Aptos"/>
              </a:defRPr>
            </a:pPr>
            <a:r>
              <a:t>AI is the operating layer—not a chatbot add-on: evidence audit, blind matching and profile intelligence, built around trust.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03120"/>
            <a:ext cx="50749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78408" y="2331720"/>
            <a:ext cx="411480" cy="41148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" y="2432303"/>
            <a:ext cx="411480" cy="1371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04288"/>
            <a:ext cx="3931920" cy="24688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400" b="1" i="0">
                <a:solidFill>
                  <a:srgbClr val="172033"/>
                </a:solidFill>
                <a:latin typeface="Aptos"/>
              </a:defRPr>
            </a:pPr>
            <a:r>
              <a:t>Evidence-linked profiles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670048"/>
            <a:ext cx="3393621" cy="439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/>
              <a:t>Move from self-reported skill lists toward projects and </a:t>
            </a:r>
            <a:endParaRPr lang="en-IN" dirty="0" smtClean="0"/>
          </a:p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 smtClean="0"/>
              <a:t>supporting </a:t>
            </a:r>
            <a:r>
              <a:rPr dirty="0"/>
              <a:t>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2103120"/>
            <a:ext cx="50749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510527" y="2331720"/>
            <a:ext cx="411480" cy="41148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7" y="2432303"/>
            <a:ext cx="411480" cy="1371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9" y="2304288"/>
            <a:ext cx="3931920" cy="24688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400" b="1" i="0">
                <a:solidFill>
                  <a:srgbClr val="172033"/>
                </a:solidFill>
                <a:latin typeface="Aptos"/>
              </a:defRPr>
            </a:pPr>
            <a:r>
              <a:t>Institution-first entry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599" y="2670048"/>
            <a:ext cx="3377591" cy="439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/>
              <a:t>Start with a defined student cohort and a measurable </a:t>
            </a:r>
            <a:endParaRPr lang="en-IN" dirty="0" smtClean="0"/>
          </a:p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 smtClean="0"/>
              <a:t>university </a:t>
            </a:r>
            <a:r>
              <a:rPr dirty="0"/>
              <a:t>use case.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50749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78408" y="3931920"/>
            <a:ext cx="411480" cy="411480"/>
          </a:xfrm>
          <a:prstGeom prst="ellipse">
            <a:avLst/>
          </a:prstGeom>
          <a:solidFill>
            <a:srgbClr val="D6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8408" y="4032504"/>
            <a:ext cx="411480" cy="1371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904487"/>
            <a:ext cx="3931920" cy="24688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400" b="1" i="0">
                <a:solidFill>
                  <a:srgbClr val="172033"/>
                </a:solidFill>
                <a:latin typeface="Aptos"/>
              </a:defRPr>
            </a:pPr>
            <a:r>
              <a:t>Permission-aware 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70248"/>
            <a:ext cx="3382401" cy="439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/>
              <a:t>Design for clear candidate choice over what is </a:t>
            </a:r>
            <a:r>
              <a:rPr dirty="0" smtClean="0"/>
              <a:t>shared</a:t>
            </a:r>
            <a:endParaRPr lang="en-IN" dirty="0" smtClean="0"/>
          </a:p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 smtClean="0"/>
              <a:t>and </a:t>
            </a:r>
            <a:r>
              <a:rPr dirty="0"/>
              <a:t>with whom.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3703320"/>
            <a:ext cx="50749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510527" y="3931920"/>
            <a:ext cx="411480" cy="41148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10527" y="4032504"/>
            <a:ext cx="411480" cy="1371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599" y="3904487"/>
            <a:ext cx="3931920" cy="24688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400" b="1" i="0">
                <a:solidFill>
                  <a:srgbClr val="172033"/>
                </a:solidFill>
                <a:latin typeface="Aptos"/>
              </a:defRPr>
            </a:pPr>
            <a:r>
              <a:t>Human review &amp; trust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599" y="4270248"/>
            <a:ext cx="3488199" cy="439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/>
              <a:t>Set standards for evidence quality, corrections, privacy </a:t>
            </a:r>
            <a:endParaRPr lang="en-IN" dirty="0" smtClean="0"/>
          </a:p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 smtClean="0"/>
              <a:t>and </a:t>
            </a:r>
            <a:r>
              <a:rPr dirty="0"/>
              <a:t>fair use.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" y="5486400"/>
            <a:ext cx="10058400" cy="502920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88720" y="5632704"/>
            <a:ext cx="969264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300" b="1" i="0">
                <a:solidFill>
                  <a:srgbClr val="FFFFFF"/>
                </a:solidFill>
                <a:latin typeface="Aptos"/>
              </a:defRPr>
            </a:pPr>
            <a:r>
              <a:t>Defensibility hypothesis: trusted evidence + institutional workflow + repeatable distribution.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APTOHIRE  •  INVESTOR / JUDGING DECK  •  31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900" b="1" i="0">
                <a:solidFill>
                  <a:srgbClr val="172033"/>
                </a:solidFill>
                <a:latin typeface="Aptos"/>
              </a:defRPr>
            </a:pPr>
            <a:r>
              <a:t>We compete with the current workflow—not just other platforms.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53312"/>
            <a:ext cx="10789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667085"/>
                </a:solidFill>
                <a:latin typeface="Aptos"/>
              </a:defRPr>
            </a:pPr>
            <a:r>
              <a:t>CVs, portfolios, job boards, ATS tools, assessments and campus systems all solve part of the journey.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7440" cy="475488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2286000"/>
            <a:ext cx="2231136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WORKFLOW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91256" y="2148840"/>
            <a:ext cx="1920240" cy="475488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64408" y="2286000"/>
            <a:ext cx="1773936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CREDENTIALS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8072" y="2148840"/>
            <a:ext cx="2148840" cy="475488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1224" y="2286000"/>
            <a:ext cx="2002536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PROJECT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33488" y="2148840"/>
            <a:ext cx="2194560" cy="475488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2286000"/>
            <a:ext cx="2048255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INSTITUTION CONTEXT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64624" y="2148840"/>
            <a:ext cx="1645920" cy="475488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37776" y="2286000"/>
            <a:ext cx="1499616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DISCOVERY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679192"/>
            <a:ext cx="23774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0392" y="2798064"/>
            <a:ext cx="22311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1F2937"/>
                </a:solidFill>
                <a:latin typeface="Aptos"/>
              </a:defRPr>
            </a:pPr>
            <a:r>
              <a:t>Traditional CV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91256" y="2679192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64408" y="2798064"/>
            <a:ext cx="17739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Strong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8072" y="2679192"/>
            <a:ext cx="2148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1224" y="2798064"/>
            <a:ext cx="20025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Variable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33488" y="2679192"/>
            <a:ext cx="219456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06640" y="2798064"/>
            <a:ext cx="2048255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Limited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64624" y="2679192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37776" y="2798064"/>
            <a:ext cx="149961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Manual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200400"/>
            <a:ext cx="2377440" cy="457200"/>
          </a:xfrm>
          <a:prstGeom prst="rect">
            <a:avLst/>
          </a:prstGeom>
          <a:solidFill>
            <a:srgbClr val="EC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0392" y="3319272"/>
            <a:ext cx="22311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1F2937"/>
                </a:solidFill>
                <a:latin typeface="Aptos"/>
              </a:defRPr>
            </a:pPr>
            <a:r>
              <a:t>Portfolio / GitHub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91256" y="3200400"/>
            <a:ext cx="1920240" cy="457200"/>
          </a:xfrm>
          <a:prstGeom prst="rect">
            <a:avLst/>
          </a:prstGeom>
          <a:solidFill>
            <a:srgbClr val="EC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64408" y="3319272"/>
            <a:ext cx="17739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Limited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48072" y="3200400"/>
            <a:ext cx="2148840" cy="457200"/>
          </a:xfrm>
          <a:prstGeom prst="rect">
            <a:avLst/>
          </a:prstGeom>
          <a:solidFill>
            <a:srgbClr val="EC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1224" y="3319272"/>
            <a:ext cx="20025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Strong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33488" y="3200400"/>
            <a:ext cx="2194560" cy="457200"/>
          </a:xfrm>
          <a:prstGeom prst="rect">
            <a:avLst/>
          </a:prstGeom>
          <a:solidFill>
            <a:srgbClr val="EC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406640" y="3319272"/>
            <a:ext cx="2048255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Limited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64624" y="3200400"/>
            <a:ext cx="1645920" cy="457200"/>
          </a:xfrm>
          <a:prstGeom prst="rect">
            <a:avLst/>
          </a:prstGeom>
          <a:solidFill>
            <a:srgbClr val="EC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637776" y="3319272"/>
            <a:ext cx="149961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Self-directed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721608"/>
            <a:ext cx="23774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50392" y="3840480"/>
            <a:ext cx="22311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1F2937"/>
                </a:solidFill>
                <a:latin typeface="Aptos"/>
              </a:defRPr>
            </a:pPr>
            <a:r>
              <a:t>Job boards / ATS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91256" y="3721608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64408" y="3840480"/>
            <a:ext cx="17739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Strong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48072" y="3721608"/>
            <a:ext cx="2148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221224" y="3840480"/>
            <a:ext cx="20025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Variable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33488" y="3721608"/>
            <a:ext cx="219456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406640" y="3840480"/>
            <a:ext cx="2048255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Limited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564624" y="3721608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637776" y="3840480"/>
            <a:ext cx="149961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Strong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242816"/>
            <a:ext cx="2377440" cy="457200"/>
          </a:xfrm>
          <a:prstGeom prst="rect">
            <a:avLst/>
          </a:prstGeom>
          <a:solidFill>
            <a:srgbClr val="EC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50392" y="4361688"/>
            <a:ext cx="22311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1F2937"/>
                </a:solidFill>
                <a:latin typeface="Aptos"/>
              </a:defRPr>
            </a:pPr>
            <a:r>
              <a:t>Campus placement tools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91256" y="4242816"/>
            <a:ext cx="1920240" cy="457200"/>
          </a:xfrm>
          <a:prstGeom prst="rect">
            <a:avLst/>
          </a:prstGeom>
          <a:solidFill>
            <a:srgbClr val="EC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264408" y="4361688"/>
            <a:ext cx="17739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Strong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48072" y="4242816"/>
            <a:ext cx="2148840" cy="457200"/>
          </a:xfrm>
          <a:prstGeom prst="rect">
            <a:avLst/>
          </a:prstGeom>
          <a:solidFill>
            <a:srgbClr val="EC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221224" y="4361688"/>
            <a:ext cx="20025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Variable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33488" y="4242816"/>
            <a:ext cx="2194560" cy="457200"/>
          </a:xfrm>
          <a:prstGeom prst="rect">
            <a:avLst/>
          </a:prstGeom>
          <a:solidFill>
            <a:srgbClr val="EC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406640" y="4361688"/>
            <a:ext cx="2048255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Strong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64624" y="4242816"/>
            <a:ext cx="1645920" cy="457200"/>
          </a:xfrm>
          <a:prstGeom prst="rect">
            <a:avLst/>
          </a:prstGeom>
          <a:solidFill>
            <a:srgbClr val="EC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637776" y="4361688"/>
            <a:ext cx="149961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0" i="0">
                <a:solidFill>
                  <a:srgbClr val="1F2937"/>
                </a:solidFill>
                <a:latin typeface="Aptos"/>
              </a:defRPr>
            </a:pPr>
            <a:r>
              <a:t>Institution-led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7240" y="4764024"/>
            <a:ext cx="2377440" cy="457200"/>
          </a:xfrm>
          <a:prstGeom prst="rect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50392" y="4882896"/>
            <a:ext cx="22311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AptoHire hypothesis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91256" y="4764024"/>
            <a:ext cx="1920240" cy="457200"/>
          </a:xfrm>
          <a:prstGeom prst="rect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264408" y="4882896"/>
            <a:ext cx="17739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Profile + evidence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148072" y="4764024"/>
            <a:ext cx="2148840" cy="457200"/>
          </a:xfrm>
          <a:prstGeom prst="rect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221224" y="4882896"/>
            <a:ext cx="200253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Evidence-first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33488" y="4764024"/>
            <a:ext cx="2194560" cy="457200"/>
          </a:xfrm>
          <a:prstGeom prst="rect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406640" y="4882896"/>
            <a:ext cx="2048255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University workflow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564624" y="4764024"/>
            <a:ext cx="1645920" cy="457200"/>
          </a:xfrm>
          <a:prstGeom prst="rect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637776" y="4882896"/>
            <a:ext cx="1499616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Skill-led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989320"/>
            <a:ext cx="105156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0" i="1">
                <a:solidFill>
                  <a:srgbClr val="667085"/>
                </a:solidFill>
                <a:latin typeface="Aptos"/>
              </a:defRPr>
            </a:pPr>
            <a:r>
              <a:t>Qualitative positioning hypothesis; feature coverage varies by provider. Validate with buyer interviews and live product comparisons.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APTOHIRE  •  INVESTOR / JUDGING DECK  •  31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900" b="1" i="0">
                <a:solidFill>
                  <a:srgbClr val="172033"/>
                </a:solidFill>
                <a:latin typeface="Aptos"/>
              </a:defRPr>
            </a:pPr>
            <a:r>
              <a:t>Size the market from the buyer—not from every student.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53312"/>
            <a:ext cx="10789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667085"/>
                </a:solidFill>
                <a:latin typeface="Aptos"/>
              </a:defRPr>
            </a:pPr>
            <a:r>
              <a:t>Illustrative bottom-up planning scenarios. These are assumptions to validate, not sourced market forecasts.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338328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60120" y="2468880"/>
            <a:ext cx="1097280" cy="310896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950976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71800"/>
            <a:ext cx="2880360" cy="4572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400" b="1" i="0">
                <a:solidFill>
                  <a:srgbClr val="172033"/>
                </a:solidFill>
                <a:latin typeface="Aptos"/>
              </a:defRPr>
            </a:pPr>
            <a:r>
              <a:t>5,000–15,000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474720"/>
            <a:ext cx="2834640" cy="3657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t>potentially relevant institutions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931920"/>
            <a:ext cx="288036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1" i="0">
                <a:solidFill>
                  <a:srgbClr val="1F2937"/>
                </a:solidFill>
                <a:latin typeface="Aptos"/>
              </a:defRPr>
            </a:pPr>
            <a:r>
              <a:t>× ₹3–10L annual contract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343400"/>
            <a:ext cx="288036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400" b="1" i="0">
                <a:solidFill>
                  <a:srgbClr val="087A55"/>
                </a:solidFill>
                <a:latin typeface="Aptos"/>
              </a:defRPr>
            </a:pPr>
            <a:r>
              <a:t>₹150–1,500 Cr / year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80" y="2240280"/>
            <a:ext cx="338328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754880" y="2468880"/>
            <a:ext cx="1097280" cy="310896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28032" y="2500884"/>
            <a:ext cx="950976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SAM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971800"/>
            <a:ext cx="2880360" cy="4572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400" b="1" i="0">
                <a:solidFill>
                  <a:srgbClr val="172033"/>
                </a:solidFill>
                <a:latin typeface="Aptos"/>
              </a:defRPr>
            </a:pPr>
            <a:r>
              <a:t>500–2,000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474720"/>
            <a:ext cx="2834640" cy="3657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t>initially reachable institutions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931920"/>
            <a:ext cx="288036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1" i="0">
                <a:solidFill>
                  <a:srgbClr val="1F2937"/>
                </a:solidFill>
                <a:latin typeface="Aptos"/>
              </a:defRPr>
            </a:pPr>
            <a:r>
              <a:t>× ₹3–8L annual contract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343400"/>
            <a:ext cx="288036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400" b="1" i="0">
                <a:solidFill>
                  <a:srgbClr val="087A55"/>
                </a:solidFill>
                <a:latin typeface="Aptos"/>
              </a:defRPr>
            </a:pPr>
            <a:r>
              <a:t>₹15–160 Cr / year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2240280"/>
            <a:ext cx="338328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549640" y="2468880"/>
            <a:ext cx="1097280" cy="310896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22792" y="2500884"/>
            <a:ext cx="950976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8A5A00"/>
                </a:solidFill>
                <a:latin typeface="Aptos"/>
              </a:defRPr>
            </a:pPr>
            <a:r>
              <a:t>3-YEAR SOM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2971800"/>
            <a:ext cx="2880360" cy="4572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400" b="1" i="0">
                <a:solidFill>
                  <a:srgbClr val="172033"/>
                </a:solidFill>
                <a:latin typeface="Aptos"/>
              </a:defRPr>
            </a:pPr>
            <a:r>
              <a:t>10–50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474720"/>
            <a:ext cx="2834640" cy="3657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t>paying institutions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931920"/>
            <a:ext cx="288036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1" i="0">
                <a:solidFill>
                  <a:srgbClr val="1F2937"/>
                </a:solidFill>
                <a:latin typeface="Aptos"/>
              </a:defRPr>
            </a:pPr>
            <a:r>
              <a:t>× ₹3–8L annual contract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4343400"/>
            <a:ext cx="288036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400" b="1" i="0">
                <a:solidFill>
                  <a:srgbClr val="087A55"/>
                </a:solidFill>
                <a:latin typeface="Aptos"/>
              </a:defRPr>
            </a:pPr>
            <a:r>
              <a:t>₹0.3–4 Cr ARR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257800"/>
            <a:ext cx="10469880" cy="658368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7280" y="5458968"/>
            <a:ext cx="10012680" cy="24688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200" b="1" i="0">
                <a:solidFill>
                  <a:srgbClr val="FFFFFF"/>
                </a:solidFill>
                <a:latin typeface="Aptos"/>
              </a:defRPr>
            </a:pPr>
            <a:r>
              <a:t>Validation gates: qualified account list • willingness-to-pay • pilot conversion • renewal • delivery cost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080760"/>
            <a:ext cx="105156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0" i="0">
                <a:solidFill>
                  <a:srgbClr val="667085"/>
                </a:solidFill>
                <a:latin typeface="Aptos"/>
              </a:defRPr>
            </a:pPr>
            <a:r>
              <a:t>Scenario ranges from AptoHire’s internal planning model; institution counts and pricing are unvalidated assumptions.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REVENUE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APTOHIRE  •  INVESTOR / JUDGING DECK  •  31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900" b="1" i="0">
                <a:solidFill>
                  <a:srgbClr val="172033"/>
                </a:solidFill>
                <a:latin typeface="Aptos"/>
              </a:defRPr>
            </a:pPr>
            <a:r>
              <a:t>Start with one buyer and one measurable outcome.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53312"/>
            <a:ext cx="10789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667085"/>
                </a:solidFill>
                <a:latin typeface="Aptos"/>
              </a:defRPr>
            </a:pPr>
            <a:r>
              <a:t>Recommended sequence: institution-led B2B SaaS first; employer monetisation after trust and supply develop.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57400"/>
            <a:ext cx="1042416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185416"/>
            <a:ext cx="2423160" cy="21945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1" i="0">
                <a:solidFill>
                  <a:srgbClr val="087A55"/>
                </a:solidFill>
                <a:latin typeface="Aptos"/>
              </a:defRPr>
            </a:pPr>
            <a:r>
              <a:t>01  PAID 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67128"/>
            <a:ext cx="2560320" cy="21945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1" i="0">
                <a:solidFill>
                  <a:srgbClr val="172033"/>
                </a:solidFill>
                <a:latin typeface="Aptos"/>
              </a:defRPr>
            </a:pPr>
            <a:r>
              <a:t>Defined cohort + fixed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167128"/>
            <a:ext cx="47091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t>Low-friction entry; baseline and success metrics agreed up front.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971800"/>
            <a:ext cx="1042416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099816"/>
            <a:ext cx="2423160" cy="21945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1" i="0">
                <a:solidFill>
                  <a:srgbClr val="087A55"/>
                </a:solidFill>
                <a:latin typeface="Aptos"/>
              </a:defRPr>
            </a:pPr>
            <a:r>
              <a:t>02  INSTITUTION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081528"/>
            <a:ext cx="2560320" cy="21945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1" i="0">
                <a:solidFill>
                  <a:srgbClr val="172033"/>
                </a:solidFill>
                <a:latin typeface="Aptos"/>
              </a:defRPr>
            </a:pPr>
            <a:r>
              <a:t>Annual subscription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081528"/>
            <a:ext cx="47091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t>Recurring revenue for agreed workflows, cohorts and support.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886200"/>
            <a:ext cx="1042416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014215"/>
            <a:ext cx="2423160" cy="21945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1" i="0">
                <a:solidFill>
                  <a:srgbClr val="087A55"/>
                </a:solidFill>
                <a:latin typeface="Aptos"/>
              </a:defRPr>
            </a:pPr>
            <a:r>
              <a:t>03  PREMIUM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995928"/>
            <a:ext cx="2560320" cy="21945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1" i="0">
                <a:solidFill>
                  <a:srgbClr val="172033"/>
                </a:solidFill>
                <a:latin typeface="Aptos"/>
              </a:defRPr>
            </a:pPr>
            <a:r>
              <a:t>Integrations /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995928"/>
            <a:ext cx="47091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t>Upsell only after institutions demonstrate repeated use and value.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800600"/>
            <a:ext cx="1042416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4928616"/>
            <a:ext cx="2423160" cy="21945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1" i="0">
                <a:solidFill>
                  <a:srgbClr val="8A5A00"/>
                </a:solidFill>
                <a:latin typeface="Aptos"/>
              </a:defRPr>
            </a:pPr>
            <a:r>
              <a:t>04  EMPLOYER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910328"/>
            <a:ext cx="2560320" cy="219456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1" i="0">
                <a:solidFill>
                  <a:srgbClr val="172033"/>
                </a:solidFill>
                <a:latin typeface="Aptos"/>
              </a:defRPr>
            </a:pPr>
            <a:r>
              <a:t>Discovery / hiring 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4910328"/>
            <a:ext cx="47091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t>Expansion hypothesis after relevant candidate supply and evidence quality are proven.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989320"/>
            <a:ext cx="1005840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1" i="0">
                <a:solidFill>
                  <a:srgbClr val="B54745"/>
                </a:solidFill>
                <a:latin typeface="Aptos"/>
              </a:defRPr>
            </a:pPr>
            <a:r>
              <a:t>Pricing is a hypothesis—not a published price list. Test pilot, core and institution-plus offers with budget owners.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GO-TO-MARKET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APTOHIRE  •  INVESTOR / JUDGING DECK  •  31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900" b="1" i="0">
                <a:solidFill>
                  <a:srgbClr val="172033"/>
                </a:solidFill>
                <a:latin typeface="Aptos"/>
              </a:defRPr>
            </a:pPr>
            <a:r>
              <a:t>Win one repeatable motion before scaling the marketplace.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53312"/>
            <a:ext cx="10789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667085"/>
                </a:solidFill>
                <a:latin typeface="Aptos"/>
              </a:defRPr>
            </a:pPr>
            <a:r>
              <a:t>A disciplined 90-day validation plan.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331720"/>
            <a:ext cx="33375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5840" y="2560320"/>
            <a:ext cx="1417320" cy="310896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2592324"/>
            <a:ext cx="1271016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DAYS 1–30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63240"/>
            <a:ext cx="274320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500" b="1" i="0">
                <a:solidFill>
                  <a:srgbClr val="172033"/>
                </a:solidFill>
                <a:latin typeface="Aptos"/>
              </a:defRPr>
            </a:pPr>
            <a:r>
              <a:t>DISCOVER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2532809" cy="439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/>
              <a:t>15–20 structured conversations; at </a:t>
            </a:r>
            <a:r>
              <a:rPr dirty="0" smtClean="0"/>
              <a:t>least</a:t>
            </a:r>
            <a:endParaRPr lang="en-IN" dirty="0" smtClean="0"/>
          </a:p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 smtClean="0"/>
              <a:t>5 </a:t>
            </a:r>
            <a:r>
              <a:rPr dirty="0"/>
              <a:t>budget owners; choose one ICP.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42232" y="3337560"/>
            <a:ext cx="338327" cy="0"/>
          </a:xfrm>
          <a:prstGeom prst="line">
            <a:avLst/>
          </a:prstGeom>
          <a:ln w="25400">
            <a:solidFill>
              <a:srgbClr val="D6A8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2000" y="2331720"/>
            <a:ext cx="33375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800600" y="2560320"/>
            <a:ext cx="1417320" cy="310896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73752" y="2592324"/>
            <a:ext cx="1271016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DAYS 31–60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3063240"/>
            <a:ext cx="274320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500" b="1" i="0">
                <a:solidFill>
                  <a:srgbClr val="172033"/>
                </a:solidFill>
                <a:latin typeface="Aptos"/>
              </a:defRPr>
            </a:pPr>
            <a: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474720"/>
            <a:ext cx="2457468" cy="439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/>
              <a:t>2–3 pilot proposals; named champion; </a:t>
            </a:r>
            <a:endParaRPr lang="en-IN" dirty="0" smtClean="0"/>
          </a:p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 smtClean="0"/>
              <a:t>baseline </a:t>
            </a:r>
            <a:r>
              <a:rPr dirty="0"/>
              <a:t>metrics; privacy/data review.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36992" y="3337560"/>
            <a:ext cx="338328" cy="0"/>
          </a:xfrm>
          <a:prstGeom prst="line">
            <a:avLst/>
          </a:prstGeom>
          <a:ln w="25400">
            <a:solidFill>
              <a:srgbClr val="D6A8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366760" y="2331720"/>
            <a:ext cx="33375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595360" y="2560320"/>
            <a:ext cx="1417320" cy="310896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68512" y="2592324"/>
            <a:ext cx="1271016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DAYS 61–90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063240"/>
            <a:ext cx="274320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500" b="1" i="0">
                <a:solidFill>
                  <a:srgbClr val="172033"/>
                </a:solidFill>
                <a:latin typeface="Aptos"/>
              </a:defRPr>
            </a:pPr>
            <a:r>
              <a:t>PROVE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474720"/>
            <a:ext cx="2776466" cy="673005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/>
              <a:t>Run a pilot if approvals permit; measure </a:t>
            </a:r>
            <a:endParaRPr lang="en-IN" dirty="0" smtClean="0"/>
          </a:p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 smtClean="0"/>
              <a:t>activation</a:t>
            </a:r>
            <a:r>
              <a:rPr dirty="0"/>
              <a:t>, usefulness, effort and </a:t>
            </a:r>
            <a:r>
              <a:rPr dirty="0" smtClean="0"/>
              <a:t>conversion</a:t>
            </a:r>
            <a:endParaRPr lang="en-IN" dirty="0" smtClean="0"/>
          </a:p>
          <a:p>
            <a:pPr algn="l">
              <a:spcAft>
                <a:spcPts val="500"/>
              </a:spcAft>
              <a:defRPr sz="1100" b="0" i="0">
                <a:solidFill>
                  <a:srgbClr val="667085"/>
                </a:solidFill>
                <a:latin typeface="Aptos"/>
              </a:defRPr>
            </a:pPr>
            <a:r>
              <a:rPr dirty="0" smtClean="0"/>
              <a:t>intent</a:t>
            </a:r>
            <a:r>
              <a:rPr dirty="0"/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4892040"/>
            <a:ext cx="10424160" cy="731520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97280" y="5102352"/>
            <a:ext cx="996696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300" b="1" i="0">
                <a:solidFill>
                  <a:srgbClr val="087A55"/>
                </a:solidFill>
                <a:latin typeface="Aptos"/>
              </a:defRPr>
            </a:pPr>
            <a:r>
              <a:t>Scale path: one department → one institution → similar institutions → employer-side expansion → adjacent segments.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97880"/>
            <a:ext cx="100584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1" i="0">
                <a:solidFill>
                  <a:srgbClr val="172033"/>
                </a:solidFill>
                <a:latin typeface="Aptos"/>
              </a:defRPr>
            </a:pPr>
            <a:r>
              <a:t>North-star proof: paid conversion + repeat use + measurable buyer value—not sign-ups alone.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D6A84F"/>
                </a:solidFill>
                <a:latin typeface="Aptos"/>
              </a:defRPr>
            </a:pPr>
            <a:r>
              <a:t>FOUNDING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APTOHIRE  •  INVESTOR / JUDGING DECK  •  31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900" b="1" i="0">
                <a:solidFill>
                  <a:srgbClr val="FFFFFF"/>
                </a:solidFill>
                <a:latin typeface="Aptos"/>
              </a:defRPr>
            </a:pPr>
            <a:r>
              <a:t>Three founders. One focused build sprint.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53312"/>
            <a:ext cx="10789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D6DFE8"/>
                </a:solidFill>
                <a:latin typeface="Aptos"/>
              </a:defRPr>
            </a:pPr>
            <a:r>
              <a:t>A lean founding team combining product direction, technical execution and iterative testing.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331720"/>
            <a:ext cx="3337560" cy="2606040"/>
          </a:xfrm>
          <a:prstGeom prst="roundRect">
            <a:avLst/>
          </a:prstGeom>
          <a:solidFill>
            <a:srgbClr val="25334A"/>
          </a:solidFill>
          <a:ln w="12700">
            <a:solidFill>
              <a:srgbClr val="3D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5840" y="2606040"/>
            <a:ext cx="777240" cy="77724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77724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500" b="1" i="0">
                <a:solidFill>
                  <a:srgbClr val="FFFFFF"/>
                </a:solidFill>
                <a:latin typeface="Aptos"/>
              </a:defRPr>
            </a:pPr>
            <a:r>
              <a:t>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2078005" cy="23698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1" i="0">
                <a:solidFill>
                  <a:srgbClr val="FFFFFF"/>
                </a:solidFill>
                <a:latin typeface="Aptos"/>
              </a:defRPr>
            </a:pPr>
            <a:r>
              <a:rPr dirty="0"/>
              <a:t>RAVI </a:t>
            </a:r>
            <a:r>
              <a:rPr dirty="0" smtClean="0"/>
              <a:t>PRAKASH</a:t>
            </a:r>
            <a:r>
              <a:rPr lang="en-IN" dirty="0" smtClean="0"/>
              <a:t> SINGH K.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1005840" y="3977639"/>
            <a:ext cx="283464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1" i="0">
                <a:solidFill>
                  <a:srgbClr val="D6A84F"/>
                </a:solidFill>
                <a:latin typeface="Aptos"/>
              </a:defRPr>
            </a:pPr>
            <a:r>
              <a:t>Founder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2513573" cy="40883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0" i="0">
                <a:solidFill>
                  <a:srgbClr val="D6DFE8"/>
                </a:solidFill>
                <a:latin typeface="Aptos"/>
              </a:defRPr>
            </a:pPr>
            <a:r>
              <a:rPr dirty="0"/>
              <a:t>Originated the idea and contributed to early </a:t>
            </a:r>
            <a:endParaRPr lang="en-IN" dirty="0" smtClean="0"/>
          </a:p>
          <a:p>
            <a:pPr algn="l">
              <a:spcAft>
                <a:spcPts val="500"/>
              </a:spcAft>
              <a:defRPr sz="1000" b="0" i="0">
                <a:solidFill>
                  <a:srgbClr val="D6DFE8"/>
                </a:solidFill>
                <a:latin typeface="Aptos"/>
              </a:defRPr>
            </a:pPr>
            <a:r>
              <a:rPr dirty="0" smtClean="0"/>
              <a:t>product </a:t>
            </a:r>
            <a:r>
              <a:rPr dirty="0"/>
              <a:t>discussions.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331720"/>
            <a:ext cx="3337560" cy="2606040"/>
          </a:xfrm>
          <a:prstGeom prst="roundRect">
            <a:avLst/>
          </a:prstGeom>
          <a:solidFill>
            <a:srgbClr val="25334A"/>
          </a:solidFill>
          <a:ln w="12700">
            <a:solidFill>
              <a:srgbClr val="3D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800600" y="2606040"/>
            <a:ext cx="777240" cy="777240"/>
          </a:xfrm>
          <a:prstGeom prst="ellipse">
            <a:avLst/>
          </a:prstGeom>
          <a:solidFill>
            <a:srgbClr val="D6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00600" y="2834640"/>
            <a:ext cx="77724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500" b="1" i="0">
                <a:solidFill>
                  <a:srgbClr val="FFFFFF"/>
                </a:solidFill>
                <a:latin typeface="Aptos"/>
              </a:defRPr>
            </a:pPr>
            <a:r>
              <a:t>MK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3611880"/>
            <a:ext cx="288036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1" i="0">
                <a:solidFill>
                  <a:srgbClr val="FFFFFF"/>
                </a:solidFill>
                <a:latin typeface="Aptos"/>
              </a:defRPr>
            </a:pPr>
            <a:r>
              <a:t>MANSI KUMAWAT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977639"/>
            <a:ext cx="283464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1" i="0">
                <a:solidFill>
                  <a:srgbClr val="D6A84F"/>
                </a:solidFill>
                <a:latin typeface="Aptos"/>
              </a:defRPr>
            </a:pPr>
            <a:r>
              <a:t>Co-founder &amp; Team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343400"/>
            <a:ext cx="2749214" cy="40883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0" i="0">
                <a:solidFill>
                  <a:srgbClr val="D6DFE8"/>
                </a:solidFill>
                <a:latin typeface="Aptos"/>
              </a:defRPr>
            </a:pPr>
            <a:r>
              <a:rPr dirty="0"/>
              <a:t>Led coordination, documentation and </a:t>
            </a:r>
            <a:r>
              <a:rPr dirty="0" smtClean="0"/>
              <a:t>full-stack</a:t>
            </a:r>
            <a:endParaRPr lang="en-IN" dirty="0" smtClean="0"/>
          </a:p>
          <a:p>
            <a:pPr algn="l">
              <a:spcAft>
                <a:spcPts val="500"/>
              </a:spcAft>
              <a:defRPr sz="1000" b="0" i="0">
                <a:solidFill>
                  <a:srgbClr val="D6DFE8"/>
                </a:solidFill>
                <a:latin typeface="Aptos"/>
              </a:defRPr>
            </a:pPr>
            <a:r>
              <a:rPr dirty="0" smtClean="0"/>
              <a:t>execution</a:t>
            </a:r>
            <a:r>
              <a:rPr dirty="0"/>
              <a:t>; drove frontend work and UI iteration.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2331720"/>
            <a:ext cx="3337560" cy="2606040"/>
          </a:xfrm>
          <a:prstGeom prst="roundRect">
            <a:avLst/>
          </a:prstGeom>
          <a:solidFill>
            <a:srgbClr val="25334A"/>
          </a:solidFill>
          <a:ln w="12700">
            <a:solidFill>
              <a:srgbClr val="3D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595360" y="2606040"/>
            <a:ext cx="777240" cy="777240"/>
          </a:xfrm>
          <a:prstGeom prst="ellipse">
            <a:avLst/>
          </a:prstGeom>
          <a:solidFill>
            <a:srgbClr val="315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95360" y="2834640"/>
            <a:ext cx="77724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500" b="1" i="0">
                <a:solidFill>
                  <a:srgbClr val="FFFFFF"/>
                </a:solidFill>
                <a:latin typeface="Aptos"/>
              </a:defRPr>
            </a:pPr>
            <a:r>
              <a:t>LN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611880"/>
            <a:ext cx="1875385" cy="23698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1" i="0">
                <a:solidFill>
                  <a:srgbClr val="FFFFFF"/>
                </a:solidFill>
                <a:latin typeface="Aptos"/>
              </a:defRPr>
            </a:pPr>
            <a:r>
              <a:rPr dirty="0" smtClean="0"/>
              <a:t>LA</a:t>
            </a:r>
            <a:r>
              <a:rPr lang="en-IN" dirty="0" smtClean="0"/>
              <a:t>X</a:t>
            </a:r>
            <a:r>
              <a:rPr dirty="0" smtClean="0"/>
              <a:t>MINARAYAN</a:t>
            </a:r>
            <a:r>
              <a:rPr lang="en-IN" dirty="0" smtClean="0"/>
              <a:t> SAHU</a:t>
            </a: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8595360" y="3977639"/>
            <a:ext cx="283464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1" i="0">
                <a:solidFill>
                  <a:srgbClr val="D6A84F"/>
                </a:solidFill>
                <a:latin typeface="Aptos"/>
              </a:defRPr>
            </a:pPr>
            <a:r>
              <a:t>Co-founder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343400"/>
            <a:ext cx="2670668" cy="40883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0" i="0">
                <a:solidFill>
                  <a:srgbClr val="D6DFE8"/>
                </a:solidFill>
                <a:latin typeface="Aptos"/>
              </a:defRPr>
            </a:pPr>
            <a:r>
              <a:rPr dirty="0"/>
              <a:t>Contributed technical guidance, technology/UI </a:t>
            </a:r>
            <a:endParaRPr lang="en-IN" dirty="0" smtClean="0"/>
          </a:p>
          <a:p>
            <a:pPr algn="l">
              <a:spcAft>
                <a:spcPts val="500"/>
              </a:spcAft>
              <a:defRPr sz="1000" b="0" i="0">
                <a:solidFill>
                  <a:srgbClr val="D6DFE8"/>
                </a:solidFill>
                <a:latin typeface="Aptos"/>
              </a:defRPr>
            </a:pPr>
            <a:r>
              <a:rPr dirty="0" smtClean="0"/>
              <a:t>input </a:t>
            </a:r>
            <a:r>
              <a:rPr dirty="0"/>
              <a:t>and hands-on testing feedback.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349240"/>
            <a:ext cx="10287000" cy="594360"/>
          </a:xfrm>
          <a:prstGeom prst="roundRect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43000" y="5532120"/>
            <a:ext cx="98298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100" b="1" i="0">
                <a:solidFill>
                  <a:srgbClr val="FFFFFF"/>
                </a:solidFill>
                <a:latin typeface="Aptos"/>
              </a:defRPr>
            </a:pPr>
            <a:r>
              <a:t>Execution story: team formed → first prototype → reviewed alternatives → selected Version B → core prototype completed for validation.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080760"/>
            <a:ext cx="100584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800" b="0" i="1">
                <a:solidFill>
                  <a:srgbClr val="B8C3D1"/>
                </a:solidFill>
                <a:latin typeface="Aptos"/>
              </a:defRPr>
            </a:pPr>
            <a:r>
              <a:t>Roles reflect the team’s current account; no equity split or formal employment structure is implied.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APTOHIRE  •  INVESTOR / JUDGING DECK  •  31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900" b="1" i="0">
                <a:solidFill>
                  <a:srgbClr val="172033"/>
                </a:solidFill>
                <a:latin typeface="Aptos"/>
              </a:defRPr>
            </a:pPr>
            <a:r>
              <a:t>AI-first product. AI-assisted build. Human-led decisions.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53312"/>
            <a:ext cx="10789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667085"/>
                </a:solidFill>
                <a:latin typeface="Aptos"/>
              </a:defRPr>
            </a:pPr>
            <a:r>
              <a:t>From idea to core prototype in an intense October sprint—without confusing prototype readiness with production readiness.</a:t>
            </a:r>
          </a:p>
        </p:txBody>
      </p:sp>
      <p:sp>
        <p:nvSpPr>
          <p:cNvPr id="8" name="Oval 7"/>
          <p:cNvSpPr/>
          <p:nvPr/>
        </p:nvSpPr>
        <p:spPr>
          <a:xfrm>
            <a:off x="1143000" y="2468880"/>
            <a:ext cx="502920" cy="50292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633472"/>
            <a:ext cx="502920" cy="1371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645919" y="2724912"/>
            <a:ext cx="1280161" cy="0"/>
          </a:xfrm>
          <a:prstGeom prst="line">
            <a:avLst/>
          </a:prstGeom>
          <a:ln w="25400">
            <a:solidFill>
              <a:srgbClr val="A9BC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3200400"/>
            <a:ext cx="150876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100" b="1" i="0">
                <a:solidFill>
                  <a:srgbClr val="172033"/>
                </a:solidFill>
                <a:latin typeface="Aptos"/>
              </a:defRPr>
            </a:pPr>
            <a:r>
              <a:t>13 OCT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566160"/>
            <a:ext cx="169164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t>Coding began</a:t>
            </a:r>
          </a:p>
        </p:txBody>
      </p:sp>
      <p:sp>
        <p:nvSpPr>
          <p:cNvPr id="13" name="Oval 12"/>
          <p:cNvSpPr/>
          <p:nvPr/>
        </p:nvSpPr>
        <p:spPr>
          <a:xfrm>
            <a:off x="3410712" y="2468880"/>
            <a:ext cx="502920" cy="50292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10712" y="2633472"/>
            <a:ext cx="502920" cy="1371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13632" y="2724912"/>
            <a:ext cx="1280160" cy="0"/>
          </a:xfrm>
          <a:prstGeom prst="line">
            <a:avLst/>
          </a:prstGeom>
          <a:ln w="25400">
            <a:solidFill>
              <a:srgbClr val="A9BC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044952" y="3200400"/>
            <a:ext cx="150876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100" b="1" i="0">
                <a:solidFill>
                  <a:srgbClr val="172033"/>
                </a:solidFill>
                <a:latin typeface="Aptos"/>
              </a:defRPr>
            </a:pPr>
            <a:r>
              <a:t>17 OCT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3512" y="3566160"/>
            <a:ext cx="169164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t>First prototype</a:t>
            </a:r>
          </a:p>
        </p:txBody>
      </p:sp>
      <p:sp>
        <p:nvSpPr>
          <p:cNvPr id="18" name="Oval 17"/>
          <p:cNvSpPr/>
          <p:nvPr/>
        </p:nvSpPr>
        <p:spPr>
          <a:xfrm>
            <a:off x="5678424" y="2468880"/>
            <a:ext cx="502920" cy="50292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78424" y="2633472"/>
            <a:ext cx="502920" cy="1371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81344" y="2724912"/>
            <a:ext cx="1280160" cy="0"/>
          </a:xfrm>
          <a:prstGeom prst="line">
            <a:avLst/>
          </a:prstGeom>
          <a:ln w="25400">
            <a:solidFill>
              <a:srgbClr val="A9BC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312664" y="3200400"/>
            <a:ext cx="150876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100" b="1" i="0">
                <a:solidFill>
                  <a:srgbClr val="172033"/>
                </a:solidFill>
                <a:latin typeface="Aptos"/>
              </a:defRPr>
            </a:pPr>
            <a:r>
              <a:t>20 OCT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3566160"/>
            <a:ext cx="169164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t>Version A reviewed</a:t>
            </a:r>
          </a:p>
        </p:txBody>
      </p:sp>
      <p:sp>
        <p:nvSpPr>
          <p:cNvPr id="23" name="Oval 22"/>
          <p:cNvSpPr/>
          <p:nvPr/>
        </p:nvSpPr>
        <p:spPr>
          <a:xfrm>
            <a:off x="7946136" y="2468880"/>
            <a:ext cx="502920" cy="502920"/>
          </a:xfrm>
          <a:prstGeom prst="ellipse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46136" y="2633472"/>
            <a:ext cx="502920" cy="1371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49055" y="2724912"/>
            <a:ext cx="1280160" cy="0"/>
          </a:xfrm>
          <a:prstGeom prst="line">
            <a:avLst/>
          </a:prstGeom>
          <a:ln w="25400">
            <a:solidFill>
              <a:srgbClr val="A9BC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580375" y="3200400"/>
            <a:ext cx="150876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100" b="1" i="0">
                <a:solidFill>
                  <a:srgbClr val="172033"/>
                </a:solidFill>
                <a:latin typeface="Aptos"/>
              </a:defRPr>
            </a:pPr>
            <a:r>
              <a:t>25 OCT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88936" y="3566160"/>
            <a:ext cx="169164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t>Version B ready</a:t>
            </a:r>
          </a:p>
        </p:txBody>
      </p:sp>
      <p:sp>
        <p:nvSpPr>
          <p:cNvPr id="28" name="Oval 27"/>
          <p:cNvSpPr/>
          <p:nvPr/>
        </p:nvSpPr>
        <p:spPr>
          <a:xfrm>
            <a:off x="10213848" y="2468880"/>
            <a:ext cx="502920" cy="502920"/>
          </a:xfrm>
          <a:prstGeom prst="ellipse">
            <a:avLst/>
          </a:prstGeom>
          <a:solidFill>
            <a:srgbClr val="D6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213848" y="2633472"/>
            <a:ext cx="502920" cy="1371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48088" y="3200400"/>
            <a:ext cx="150876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100" b="1" i="0">
                <a:solidFill>
                  <a:srgbClr val="172033"/>
                </a:solidFill>
                <a:latin typeface="Aptos"/>
              </a:defRPr>
            </a:pPr>
            <a:r>
              <a:t>28 OCT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56648" y="3566160"/>
            <a:ext cx="169164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t>Core prototype completed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572000"/>
            <a:ext cx="10561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7280" y="4773168"/>
            <a:ext cx="1828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1" i="0">
                <a:solidFill>
                  <a:srgbClr val="087A55"/>
                </a:solidFill>
                <a:latin typeface="Aptos"/>
              </a:defRPr>
            </a:pPr>
            <a:r>
              <a:t>AI-ASSISTED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4754880"/>
            <a:ext cx="7902869" cy="439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1F2937"/>
                </a:solidFill>
                <a:latin typeface="Aptos"/>
              </a:defRPr>
            </a:pPr>
            <a:r>
              <a:rPr dirty="0"/>
              <a:t>Inside </a:t>
            </a:r>
            <a:r>
              <a:rPr dirty="0" err="1"/>
              <a:t>AptoHire</a:t>
            </a:r>
            <a:r>
              <a:rPr dirty="0"/>
              <a:t>: n8n-orchestrated agents for proof audit, blind matching and profile updates. In development: Gemini, Claude, </a:t>
            </a:r>
            <a:endParaRPr lang="en-IN" dirty="0" smtClean="0"/>
          </a:p>
          <a:p>
            <a:pPr algn="l">
              <a:spcAft>
                <a:spcPts val="500"/>
              </a:spcAft>
              <a:defRPr sz="1100" b="0" i="0">
                <a:solidFill>
                  <a:srgbClr val="1F2937"/>
                </a:solidFill>
                <a:latin typeface="Aptos"/>
              </a:defRPr>
            </a:pPr>
            <a:r>
              <a:rPr dirty="0" err="1" smtClean="0"/>
              <a:t>ChatGPT</a:t>
            </a:r>
            <a:r>
              <a:rPr dirty="0" smtClean="0"/>
              <a:t> </a:t>
            </a:r>
            <a:r>
              <a:rPr dirty="0"/>
              <a:t>and Arena AI supported planning and coding; the team reviewed and tested.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806440"/>
            <a:ext cx="100584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1" i="0">
                <a:solidFill>
                  <a:srgbClr val="B54745"/>
                </a:solidFill>
                <a:latin typeface="Aptos"/>
              </a:defRPr>
            </a:pPr>
            <a:r>
              <a:t>Next gate: final QA, security/privacy checks, deployment verification and validation of critical user flows.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ROADMAP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APTOHIRE  •  INVESTOR / JUDGING DECK  •  31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900" b="1" i="0">
                <a:solidFill>
                  <a:srgbClr val="172033"/>
                </a:solidFill>
                <a:latin typeface="Aptos"/>
              </a:defRPr>
            </a:pPr>
            <a:r>
              <a:t>Scale only when the evidence says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53312"/>
            <a:ext cx="10789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667085"/>
                </a:solidFill>
                <a:latin typeface="Aptos"/>
              </a:defRPr>
            </a:pPr>
            <a:r>
              <a:t>Validate the AI workflows, calibrate evidence quality and prove buyer value before expanding automation.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333756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60120" y="2487168"/>
            <a:ext cx="914400" cy="310896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2" y="2519172"/>
            <a:ext cx="768096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71800"/>
            <a:ext cx="283464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400" b="1" i="0">
                <a:solidFill>
                  <a:srgbClr val="172033"/>
                </a:solidFill>
                <a:latin typeface="Aptos"/>
              </a:defRPr>
            </a:pPr>
            <a:r>
              <a:t>Validate the 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2662652" cy="40883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rPr dirty="0"/>
              <a:t>Feature-by-feature QA; privacy/access review</a:t>
            </a:r>
            <a:r>
              <a:rPr dirty="0" smtClean="0"/>
              <a:t>;</a:t>
            </a:r>
            <a:endParaRPr lang="en-IN" dirty="0" smtClean="0"/>
          </a:p>
          <a:p>
            <a:pPr algn="l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rPr dirty="0" smtClean="0"/>
              <a:t> </a:t>
            </a:r>
            <a:r>
              <a:rPr dirty="0"/>
              <a:t>verify core user journeys.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240280"/>
            <a:ext cx="333756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754880" y="2487168"/>
            <a:ext cx="914400" cy="310896"/>
          </a:xfrm>
          <a:prstGeom prst="roundRect">
            <a:avLst/>
          </a:prstGeom>
          <a:solidFill>
            <a:srgbClr val="E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28032" y="2519172"/>
            <a:ext cx="768096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087A55"/>
                </a:solidFill>
                <a:latin typeface="Aptos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971800"/>
            <a:ext cx="283464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400" b="1" i="0">
                <a:solidFill>
                  <a:srgbClr val="172033"/>
                </a:solidFill>
                <a:latin typeface="Aptos"/>
              </a:defRPr>
            </a:pPr>
            <a:r>
              <a:t>Prove buyer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383280"/>
            <a:ext cx="2816540" cy="40883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rPr dirty="0"/>
              <a:t>Customer interviews; pilot; baseline and </a:t>
            </a:r>
            <a:r>
              <a:rPr dirty="0" smtClean="0"/>
              <a:t>outcome</a:t>
            </a:r>
            <a:endParaRPr lang="en-IN" dirty="0" smtClean="0"/>
          </a:p>
          <a:p>
            <a:pPr algn="l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rPr dirty="0" smtClean="0"/>
              <a:t> </a:t>
            </a:r>
            <a:r>
              <a:rPr dirty="0"/>
              <a:t>metrics; willingness-to-pay.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240280"/>
            <a:ext cx="333756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487168"/>
            <a:ext cx="914400" cy="310896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22792" y="2519172"/>
            <a:ext cx="768096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900" b="1" i="0">
                <a:solidFill>
                  <a:srgbClr val="8A5A00"/>
                </a:solidFill>
                <a:latin typeface="Aptos"/>
              </a:defRPr>
            </a:pPr>
            <a:r>
              <a:t>THEN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971800"/>
            <a:ext cx="283464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400" b="1" i="0">
                <a:solidFill>
                  <a:srgbClr val="172033"/>
                </a:solidFill>
                <a:latin typeface="Aptos"/>
              </a:defRPr>
            </a:pPr>
            <a:r>
              <a:t>Repeat &amp; expand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383280"/>
            <a:ext cx="2646622" cy="40883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rPr dirty="0"/>
              <a:t>Convert pilots; improve onboarding; employer </a:t>
            </a:r>
            <a:endParaRPr lang="en-IN" dirty="0" smtClean="0"/>
          </a:p>
          <a:p>
            <a:pPr algn="l">
              <a:spcAft>
                <a:spcPts val="500"/>
              </a:spcAft>
              <a:defRPr sz="1000" b="0" i="0">
                <a:solidFill>
                  <a:srgbClr val="667085"/>
                </a:solidFill>
                <a:latin typeface="Aptos"/>
              </a:defRPr>
            </a:pPr>
            <a:r>
              <a:rPr dirty="0" smtClean="0"/>
              <a:t>workflows</a:t>
            </a:r>
            <a:r>
              <a:rPr dirty="0"/>
              <a:t>; integrations after demand.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26280"/>
            <a:ext cx="292608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1" i="0">
                <a:solidFill>
                  <a:srgbClr val="B54745"/>
                </a:solidFill>
                <a:latin typeface="Aptos"/>
              </a:defRPr>
            </a:pPr>
            <a:r>
              <a:t>RISKS TO MANAGE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892040"/>
            <a:ext cx="10561320" cy="594360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5074920"/>
            <a:ext cx="10058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100" b="1" i="0">
                <a:solidFill>
                  <a:srgbClr val="FFFFFF"/>
                </a:solidFill>
                <a:latin typeface="Aptos"/>
              </a:defRPr>
            </a:pPr>
            <a:r>
              <a:t>Institutional sales cycles  •  student activation  •  evidence quality  •  privacy/security  •  bias and fairness  •  delivery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806440"/>
            <a:ext cx="1014984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000" b="1" i="0">
                <a:solidFill>
                  <a:srgbClr val="087A55"/>
                </a:solidFill>
                <a:latin typeface="Aptos"/>
              </a:defRPr>
            </a:pPr>
            <a:r>
              <a:t>Trust is not a slide—it is a product requirement: consent, least privilege, correction paths and human review.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4008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900" b="1" i="0">
                <a:solidFill>
                  <a:srgbClr val="D6A84F"/>
                </a:solidFill>
                <a:latin typeface="Aptos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292608"/>
            <a:ext cx="50292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7315200" cy="16459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r>
              <a:t>APTOHIRE  •  INVESTOR / JUDGING DECK  •  31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2900" b="1" i="0">
                <a:solidFill>
                  <a:srgbClr val="FFFFFF"/>
                </a:solidFill>
                <a:latin typeface="Aptos"/>
              </a:defRPr>
            </a:pPr>
            <a:r>
              <a:t>Help us prove the model—and build what works.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53312"/>
            <a:ext cx="1078992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300" b="0" i="0">
                <a:solidFill>
                  <a:srgbClr val="D6DFE8"/>
                </a:solidFill>
                <a:latin typeface="Aptos"/>
              </a:defRPr>
            </a:pPr>
            <a:r>
              <a:t>We are seeking the right pilot partners, mentors and early-stage support to validate AptoHire’s first repeatable use case.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331720"/>
            <a:ext cx="3337560" cy="1508760"/>
          </a:xfrm>
          <a:prstGeom prst="roundRect">
            <a:avLst/>
          </a:prstGeom>
          <a:solidFill>
            <a:srgbClr val="25334A"/>
          </a:solidFill>
          <a:ln w="12700">
            <a:solidFill>
              <a:srgbClr val="3D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606040"/>
            <a:ext cx="283464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1" i="0">
                <a:solidFill>
                  <a:srgbClr val="D6A84F"/>
                </a:solidFill>
                <a:latin typeface="Aptos"/>
              </a:defRPr>
            </a:pPr>
            <a:r>
              <a:t>PILOT PARTNERS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63240"/>
            <a:ext cx="2576090" cy="439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D6DFE8"/>
                </a:solidFill>
                <a:latin typeface="Aptos"/>
              </a:defRPr>
            </a:pPr>
            <a:r>
              <a:rPr dirty="0"/>
              <a:t>Universities / placement teams willing to </a:t>
            </a:r>
            <a:endParaRPr lang="en-IN" dirty="0" smtClean="0"/>
          </a:p>
          <a:p>
            <a:pPr algn="l">
              <a:spcAft>
                <a:spcPts val="500"/>
              </a:spcAft>
              <a:defRPr sz="1100" b="0" i="0">
                <a:solidFill>
                  <a:srgbClr val="D6DFE8"/>
                </a:solidFill>
                <a:latin typeface="Aptos"/>
              </a:defRPr>
            </a:pPr>
            <a:r>
              <a:rPr dirty="0" smtClean="0"/>
              <a:t>co-design </a:t>
            </a:r>
            <a:r>
              <a:rPr dirty="0"/>
              <a:t>a measurable pilot.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3337560" cy="1508760"/>
          </a:xfrm>
          <a:prstGeom prst="roundRect">
            <a:avLst/>
          </a:prstGeom>
          <a:solidFill>
            <a:srgbClr val="25334A"/>
          </a:solidFill>
          <a:ln w="12700">
            <a:solidFill>
              <a:srgbClr val="3D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00600" y="2606040"/>
            <a:ext cx="283464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1" i="0">
                <a:solidFill>
                  <a:srgbClr val="D6A84F"/>
                </a:solidFill>
                <a:latin typeface="Aptos"/>
              </a:defRPr>
            </a:pPr>
            <a:r>
              <a:t>BUYER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063240"/>
            <a:ext cx="2972032" cy="439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D6DFE8"/>
                </a:solidFill>
                <a:latin typeface="Aptos"/>
              </a:defRPr>
            </a:pPr>
            <a:r>
              <a:rPr dirty="0"/>
              <a:t>Introductions to decision-makers and </a:t>
            </a:r>
            <a:endParaRPr lang="en-IN" dirty="0" smtClean="0"/>
          </a:p>
          <a:p>
            <a:pPr algn="l">
              <a:spcAft>
                <a:spcPts val="500"/>
              </a:spcAft>
              <a:defRPr sz="1100" b="0" i="0">
                <a:solidFill>
                  <a:srgbClr val="D6DFE8"/>
                </a:solidFill>
                <a:latin typeface="Aptos"/>
              </a:defRPr>
            </a:pPr>
            <a:r>
              <a:rPr dirty="0" smtClean="0"/>
              <a:t>employers </a:t>
            </a:r>
            <a:r>
              <a:rPr dirty="0"/>
              <a:t>who can pressure-test the workflow.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2331720"/>
            <a:ext cx="3337560" cy="1508760"/>
          </a:xfrm>
          <a:prstGeom prst="roundRect">
            <a:avLst/>
          </a:prstGeom>
          <a:solidFill>
            <a:srgbClr val="25334A"/>
          </a:solidFill>
          <a:ln w="12700">
            <a:solidFill>
              <a:srgbClr val="3D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0" y="2606040"/>
            <a:ext cx="283464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200" b="1" i="0">
                <a:solidFill>
                  <a:srgbClr val="D6A84F"/>
                </a:solidFill>
                <a:latin typeface="Aptos"/>
              </a:defRPr>
            </a:pPr>
            <a:r>
              <a:t>BUILD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063240"/>
            <a:ext cx="2457468" cy="43960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  <a:defRPr sz="1100" b="0" i="0">
                <a:solidFill>
                  <a:srgbClr val="D6DFE8"/>
                </a:solidFill>
                <a:latin typeface="Aptos"/>
              </a:defRPr>
            </a:pPr>
            <a:r>
              <a:rPr dirty="0"/>
              <a:t>Mentorship and funding conversations </a:t>
            </a:r>
            <a:endParaRPr lang="en-IN" dirty="0" smtClean="0"/>
          </a:p>
          <a:p>
            <a:pPr algn="l">
              <a:spcAft>
                <a:spcPts val="500"/>
              </a:spcAft>
              <a:defRPr sz="1100" b="0" i="0">
                <a:solidFill>
                  <a:srgbClr val="D6DFE8"/>
                </a:solidFill>
                <a:latin typeface="Aptos"/>
              </a:defRPr>
            </a:pPr>
            <a:r>
              <a:rPr dirty="0" smtClean="0"/>
              <a:t>tied </a:t>
            </a:r>
            <a:r>
              <a:rPr dirty="0"/>
              <a:t>to clear validation milestones.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89120"/>
            <a:ext cx="10241280" cy="6400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2000" b="1" i="0">
                <a:solidFill>
                  <a:srgbClr val="FFFFFF"/>
                </a:solidFill>
                <a:latin typeface="Aptos"/>
              </a:defRPr>
            </a:pPr>
            <a:r>
              <a:t>We’re not asking you to believe a forecast.</a:t>
            </a:r>
          </a:p>
          <a:p>
            <a:pPr algn="ctr">
              <a:spcAft>
                <a:spcPts val="500"/>
              </a:spcAft>
              <a:defRPr sz="2000" b="1" i="0">
                <a:solidFill>
                  <a:srgbClr val="FFFFFF"/>
                </a:solidFill>
                <a:latin typeface="Aptos"/>
              </a:defRPr>
            </a:pPr>
            <a:r>
              <a:t>We’re asking you to help us validate a better hiring signal.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5440680"/>
            <a:ext cx="5120640" cy="530352"/>
          </a:xfrm>
          <a:prstGeom prst="roundRect">
            <a:avLst/>
          </a:prstGeom>
          <a:solidFill>
            <a:srgbClr val="08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0" y="5596128"/>
            <a:ext cx="475488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100" b="1" i="0">
                <a:solidFill>
                  <a:srgbClr val="FFFFFF"/>
                </a:solidFill>
                <a:latin typeface="Aptos"/>
              </a:defRPr>
            </a:pPr>
            <a:r>
              <a:t>APTOHIRE  •  PROVE SKILLS. MATCH POTENTIAL.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6080760"/>
            <a:ext cx="41148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  <a:defRPr sz="1000" b="0" i="0">
                <a:solidFill>
                  <a:srgbClr val="B8C3D1"/>
                </a:solidFill>
                <a:latin typeface="Aptos"/>
              </a:defRPr>
            </a:pPr>
            <a:r>
              <a:t>aptohire.vercel.app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1697</Words>
  <Application>Microsoft Office PowerPoint</Application>
  <PresentationFormat>Custom</PresentationFormat>
  <Paragraphs>311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Windows User</cp:lastModifiedBy>
  <cp:revision>4</cp:revision>
  <dcterms:created xsi:type="dcterms:W3CDTF">2013-01-27T09:14:16Z</dcterms:created>
  <dcterms:modified xsi:type="dcterms:W3CDTF">2026-10-31T05:09:01Z</dcterms:modified>
  <cp:category/>
</cp:coreProperties>
</file>