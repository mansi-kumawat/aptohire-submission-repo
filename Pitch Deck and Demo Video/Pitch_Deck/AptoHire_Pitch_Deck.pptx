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D6A84F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8C3D1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Oval 5"/>
          <p:cNvSpPr/>
          <p:nvPr/>
        </p:nvSpPr>
        <p:spPr>
          <a:xfrm>
            <a:off x="8549640" y="777240"/>
            <a:ext cx="2926080" cy="292608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46920" y="2011680"/>
            <a:ext cx="1600200" cy="160020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3246120"/>
            <a:ext cx="1005840" cy="1005840"/>
          </a:xfrm>
          <a:prstGeom prst="ellipse">
            <a:avLst/>
          </a:prstGeom>
          <a:solidFill>
            <a:srgbClr val="31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67665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D6A84F"/>
                </a:solidFill>
                <a:latin typeface="Aptos"/>
              </a:defRPr>
            </a:pPr>
            <a:r>
              <a:t>SKILLS-FIRST HIRING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713232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Talent is everywhere.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Proof is harder to find.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794760"/>
            <a:ext cx="62179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D6DFE8"/>
                </a:solidFill>
                <a:latin typeface="Aptos"/>
              </a:defRPr>
            </a:pPr>
            <a:r>
              <a:t>AptoHire connects demonstrated skills with meaningful opportunities.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09160"/>
            <a:ext cx="3200400" cy="530352"/>
          </a:xfrm>
          <a:prstGeom prst="round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37176"/>
            <a:ext cx="29260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PROVE SKILLS  •  MATCH POTENTIAL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Ravi Prakash  ·  Mansi Kumawat  ·  Lakshmi Narayan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B8C3D1"/>
                </a:solidFill>
                <a:latin typeface="Aptos"/>
              </a:defRPr>
            </a:pPr>
            <a:r>
              <a:t>India-first  |  University-first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The hiring signal is noisy.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Students have skills. Employers need evidence. The signal between them is often weak.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4290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514600"/>
            <a:ext cx="475488" cy="475488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4754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57600"/>
            <a:ext cx="2852928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F2937"/>
                </a:solidFill>
                <a:latin typeface="Aptos"/>
              </a:defRPr>
            </a:pPr>
            <a:r>
              <a:t>Projects and skills can be buried beneath grades, certificates and limited 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09160"/>
            <a:ext cx="285292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87A55"/>
                </a:solidFill>
                <a:latin typeface="Aptos"/>
              </a:defRPr>
            </a:pPr>
            <a:r>
              <a:t>Skills without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240280"/>
            <a:ext cx="34290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514600"/>
            <a:ext cx="475488" cy="475488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633472"/>
            <a:ext cx="4754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200400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UNIVERSITIES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657600"/>
            <a:ext cx="2852928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F2937"/>
                </a:solidFill>
                <a:latin typeface="Aptos"/>
              </a:defRPr>
            </a:pPr>
            <a:r>
              <a:t>Career readiness is hard to communicate when practical capability is scattered across systems.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709160"/>
            <a:ext cx="285292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87A55"/>
                </a:solidFill>
                <a:latin typeface="Aptos"/>
              </a:defRPr>
            </a:pPr>
            <a:r>
              <a:t>Learning without clear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240280"/>
            <a:ext cx="34290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200" y="2514600"/>
            <a:ext cx="475488" cy="475488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633472"/>
            <a:ext cx="4754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3200400"/>
            <a:ext cx="2834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EMPLOYERS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657600"/>
            <a:ext cx="2852928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1F2937"/>
                </a:solidFill>
                <a:latin typeface="Aptos"/>
              </a:defRPr>
            </a:pPr>
            <a:r>
              <a:t>Resumes and keywords create volume—but not always confidence in practical 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709160"/>
            <a:ext cx="285292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87A55"/>
                </a:solidFill>
                <a:latin typeface="Aptos"/>
              </a:defRPr>
            </a:pPr>
            <a:r>
              <a:t>Too many profiles, thin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486400"/>
            <a:ext cx="10149840" cy="56692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5650992"/>
            <a:ext cx="9692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THE GAP: having skills is not the same as being recognized for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A large education system. A persistent skills-signalling 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Context establishes the scale of the problem—not AptoHire’s traction or addressable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2788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87A55"/>
                </a:solidFill>
                <a:latin typeface="Aptos"/>
              </a:defRPr>
            </a:pPr>
            <a:r>
              <a:t>4.50 crore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72033"/>
                </a:solidFill>
                <a:latin typeface="Aptos"/>
              </a:defRPr>
            </a:pPr>
            <a:r>
              <a:t>Higher-ed enrolments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2743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667085"/>
                </a:solidFill>
                <a:latin typeface="Aptos"/>
              </a:defRPr>
            </a:pPr>
            <a:r>
              <a:t>India, AISHE 2023–24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2788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87A55"/>
                </a:solidFill>
                <a:latin typeface="Aptos"/>
              </a:defRPr>
            </a:pPr>
            <a:r>
              <a:t>64,756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72033"/>
                </a:solidFill>
                <a:latin typeface="Aptos"/>
              </a:defRPr>
            </a:pPr>
            <a:r>
              <a:t>Registered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20440"/>
            <a:ext cx="2743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667085"/>
                </a:solidFill>
                <a:latin typeface="Aptos"/>
              </a:defRPr>
            </a:pPr>
            <a:r>
              <a:t>AISHE 2023–24 survey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4028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2788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087A55"/>
                </a:solidFill>
                <a:latin typeface="Aptos"/>
              </a:defRPr>
            </a:pPr>
            <a:r>
              <a:t>42.6%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5468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72033"/>
                </a:solidFill>
                <a:latin typeface="Aptos"/>
              </a:defRPr>
            </a:pPr>
            <a:r>
              <a:t>Graduate employability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20440"/>
            <a:ext cx="27432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667085"/>
                </a:solidFill>
                <a:latin typeface="Aptos"/>
              </a:defRPr>
            </a:pPr>
            <a:r>
              <a:t>Mercer | Mettl GSI 2025; job-applicant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10652760" cy="1005840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1014984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Our wedge is not “every student is a customer.” It is a focused institution workflow with measurable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424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667085"/>
                </a:solidFill>
                <a:latin typeface="Aptos"/>
              </a:defRPr>
            </a:pPr>
            <a:r>
              <a:t>Sources: Ministry of Education / PIB, AISHE release (2023–24); Mercer | Mettl, India’s Graduate Skill Index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D6A84F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8C3D1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Meet AptoHire.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D6DFE8"/>
                </a:solidFill>
                <a:latin typeface="Aptos"/>
              </a:defRPr>
            </a:pPr>
            <a:r>
              <a:t>A skills-first layer between education and employment.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3154680" cy="19202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60604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3375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SHOW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49039"/>
            <a:ext cx="26060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D6DFE8"/>
                </a:solidFill>
                <a:latin typeface="Aptos"/>
              </a:defRPr>
            </a:pPr>
            <a:r>
              <a:t>Skills, projects &amp; supporting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3291840"/>
            <a:ext cx="457200" cy="0"/>
          </a:xfrm>
          <a:prstGeom prst="line">
            <a:avLst/>
          </a:prstGeom>
          <a:ln w="25400">
            <a:solidFill>
              <a:srgbClr val="D6A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331720"/>
            <a:ext cx="3154680" cy="19202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606040"/>
            <a:ext cx="502920" cy="50292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743200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3375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749039"/>
            <a:ext cx="26060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D6DFE8"/>
                </a:solidFill>
                <a:latin typeface="Aptos"/>
              </a:defRPr>
            </a:pPr>
            <a:r>
              <a:t>Explore relevant capabilities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3291840"/>
            <a:ext cx="457200" cy="0"/>
          </a:xfrm>
          <a:prstGeom prst="line">
            <a:avLst/>
          </a:prstGeom>
          <a:ln w="25400">
            <a:solidFill>
              <a:srgbClr val="D6A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21040" y="2331720"/>
            <a:ext cx="3154680" cy="19202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9640" y="260604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743200"/>
            <a:ext cx="502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3375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749039"/>
            <a:ext cx="26060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D6DFE8"/>
                </a:solidFill>
                <a:latin typeface="Aptos"/>
              </a:defRPr>
            </a:pPr>
            <a:r>
              <a:t>Create a more meaningful path to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0584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D6A84F"/>
                </a:solidFill>
                <a:latin typeface="Aptos"/>
              </a:defRPr>
            </a:pPr>
            <a:r>
              <a:t>Not another job board. A proposed evidence-led workflow for skills visibility and talent discovery.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66928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1">
                <a:solidFill>
                  <a:srgbClr val="B8C3D1"/>
                </a:solidFill>
                <a:latin typeface="Aptos"/>
              </a:defRPr>
            </a:pPr>
            <a:r>
              <a:t>Core product claims should be shown only where the current build supports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One platform. Three connected perspectives.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Illustrative experience map—replace with verified screenshots before presenting externally.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29000" cy="38404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25603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STUDENT PROFILE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697480"/>
            <a:ext cx="566928" cy="566928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724912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Candidate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474720"/>
            <a:ext cx="132588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506724"/>
            <a:ext cx="11795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913631"/>
            <a:ext cx="91440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945635"/>
            <a:ext cx="768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52544"/>
            <a:ext cx="192024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384548"/>
            <a:ext cx="177393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Project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05740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2057400"/>
            <a:ext cx="3429000" cy="38404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167128"/>
            <a:ext cx="25603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EMPLOYER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97480"/>
            <a:ext cx="2651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Role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154680"/>
            <a:ext cx="2468880" cy="292608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00600" y="3227832"/>
            <a:ext cx="118872" cy="118872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47488" y="3236976"/>
            <a:ext cx="1874520" cy="82296"/>
          </a:xfrm>
          <a:prstGeom prst="round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3657600"/>
            <a:ext cx="2057400" cy="292608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730752"/>
            <a:ext cx="118872" cy="118872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47488" y="3739896"/>
            <a:ext cx="1463040" cy="82296"/>
          </a:xfrm>
          <a:prstGeom prst="round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3440" y="4160520"/>
            <a:ext cx="2331720" cy="292608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00600" y="4233672"/>
            <a:ext cx="118872" cy="118872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47488" y="4242816"/>
            <a:ext cx="1737360" cy="82296"/>
          </a:xfrm>
          <a:prstGeom prst="roundRect">
            <a:avLst/>
          </a:prstGeom>
          <a:solidFill>
            <a:srgbClr val="A8B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92440" y="205740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2440" y="2057400"/>
            <a:ext cx="3429000" cy="38404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167128"/>
            <a:ext cx="256032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UNIVERSITY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97480"/>
            <a:ext cx="2651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Career readiness</a:t>
            </a:r>
          </a:p>
        </p:txBody>
      </p:sp>
      <p:sp>
        <p:nvSpPr>
          <p:cNvPr id="36" name="Oval 35"/>
          <p:cNvSpPr/>
          <p:nvPr/>
        </p:nvSpPr>
        <p:spPr>
          <a:xfrm>
            <a:off x="8394192" y="3200400"/>
            <a:ext cx="274320" cy="2743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3264408"/>
            <a:ext cx="27432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27832"/>
            <a:ext cx="2057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F2937"/>
                </a:solidFill>
                <a:latin typeface="Aptos"/>
              </a:defRPr>
            </a:pPr>
            <a:r>
              <a:t>Skills visibility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3721608"/>
            <a:ext cx="274320" cy="2743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3785615"/>
            <a:ext cx="27432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749039"/>
            <a:ext cx="2057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F2937"/>
                </a:solidFill>
                <a:latin typeface="Aptos"/>
              </a:defRPr>
            </a:pPr>
            <a:r>
              <a:t>Project evidence</a:t>
            </a:r>
          </a:p>
        </p:txBody>
      </p:sp>
      <p:sp>
        <p:nvSpPr>
          <p:cNvPr id="42" name="Oval 41"/>
          <p:cNvSpPr/>
          <p:nvPr/>
        </p:nvSpPr>
        <p:spPr>
          <a:xfrm>
            <a:off x="8394192" y="4242816"/>
            <a:ext cx="274320" cy="2743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306824"/>
            <a:ext cx="274320" cy="1097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4270248"/>
            <a:ext cx="2057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1F2937"/>
                </a:solidFill>
                <a:latin typeface="Aptos"/>
              </a:defRPr>
            </a:pPr>
            <a:r>
              <a:t>Pilot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B54745"/>
                </a:solidFill>
                <a:latin typeface="Aptos"/>
              </a:defRPr>
            </a:pPr>
            <a:r>
              <a:t>Demo rule: show live workflows, permissions and evidence states—not aspirational screens as if already shipped.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The bet: make capability easier to inspect.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The advantage must be earned through workflow adoption and trust—not an “AI” label.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331720"/>
            <a:ext cx="411480" cy="41148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32303"/>
            <a:ext cx="41148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04288"/>
            <a:ext cx="393192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Evidence-linked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70048"/>
            <a:ext cx="388620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Move from self-reported skill lists toward projects and supporting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7" y="2331720"/>
            <a:ext cx="411480" cy="41148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432303"/>
            <a:ext cx="41148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2304288"/>
            <a:ext cx="393192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Institution-first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2670048"/>
            <a:ext cx="388620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Start with a defined student cohort and a measurable university use case.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" y="3931920"/>
            <a:ext cx="411480" cy="41148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032504"/>
            <a:ext cx="41148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04487"/>
            <a:ext cx="393192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Permission-aware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70248"/>
            <a:ext cx="388620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Design for clear candidate choice over what is shared and with whom.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70332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7" y="3931920"/>
            <a:ext cx="411480" cy="41148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7" y="4032504"/>
            <a:ext cx="41148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3904487"/>
            <a:ext cx="393192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Human review &amp; 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4270248"/>
            <a:ext cx="388620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Set standards for evidence quality, corrections, privacy and fair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486400"/>
            <a:ext cx="10058400" cy="50292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32704"/>
            <a:ext cx="96926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Defensibility hypothesis: trusted evidence + institutional workflow + repeatable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We compete with the current workflow—not just other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CVs, portfolios, job boards, ATS tools, assessments and campus systems all solve part of the journey.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7440" cy="47548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86000"/>
            <a:ext cx="22311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2148840"/>
            <a:ext cx="1920240" cy="47548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2286000"/>
            <a:ext cx="17739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CREDENTIALS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148840"/>
            <a:ext cx="2148840" cy="47548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286000"/>
            <a:ext cx="20025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PROJECT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148840"/>
            <a:ext cx="2194560" cy="47548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2048255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INSTITUTION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64624" y="2148840"/>
            <a:ext cx="1645920" cy="47548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2286000"/>
            <a:ext cx="14996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79192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798064"/>
            <a:ext cx="2231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F2937"/>
                </a:solidFill>
                <a:latin typeface="Aptos"/>
              </a:defRPr>
            </a:pPr>
            <a:r>
              <a:t>Traditional 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1256" y="2679192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2798064"/>
            <a:ext cx="17739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8072" y="2679192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1224" y="2798064"/>
            <a:ext cx="20025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679192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798064"/>
            <a:ext cx="204825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2679192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2798064"/>
            <a:ext cx="14996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200400"/>
            <a:ext cx="23774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319272"/>
            <a:ext cx="2231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F2937"/>
                </a:solidFill>
                <a:latin typeface="Aptos"/>
              </a:defRPr>
            </a:pPr>
            <a:r>
              <a:t>Portfolio / GitHub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1256" y="3200400"/>
            <a:ext cx="19202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3319272"/>
            <a:ext cx="17739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8072" y="3200400"/>
            <a:ext cx="21488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21224" y="3319272"/>
            <a:ext cx="20025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200400"/>
            <a:ext cx="219456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319272"/>
            <a:ext cx="204825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64624" y="3200400"/>
            <a:ext cx="164592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3319272"/>
            <a:ext cx="14996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Self-directed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721608"/>
            <a:ext cx="2377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3840480"/>
            <a:ext cx="2231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F2937"/>
                </a:solidFill>
                <a:latin typeface="Aptos"/>
              </a:defRPr>
            </a:pPr>
            <a:r>
              <a:t>Job boards / 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91256" y="3721608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64408" y="3840480"/>
            <a:ext cx="17739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8072" y="372160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21224" y="3840480"/>
            <a:ext cx="20025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33488" y="3721608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3840480"/>
            <a:ext cx="204825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64624" y="3721608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37776" y="3840480"/>
            <a:ext cx="14996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242816"/>
            <a:ext cx="23774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" y="4361688"/>
            <a:ext cx="2231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1F2937"/>
                </a:solidFill>
                <a:latin typeface="Aptos"/>
              </a:defRPr>
            </a:pPr>
            <a:r>
              <a:t>Campus placement tools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91256" y="4242816"/>
            <a:ext cx="19202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64408" y="4361688"/>
            <a:ext cx="17739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48072" y="4242816"/>
            <a:ext cx="214884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21224" y="4361688"/>
            <a:ext cx="20025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33488" y="4242816"/>
            <a:ext cx="219456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4361688"/>
            <a:ext cx="204825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64624" y="4242816"/>
            <a:ext cx="1645920" cy="457200"/>
          </a:xfrm>
          <a:prstGeom prst="rect">
            <a:avLst/>
          </a:prstGeom>
          <a:solidFill>
            <a:srgbClr val="EC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7776" y="4361688"/>
            <a:ext cx="14996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1F2937"/>
                </a:solidFill>
                <a:latin typeface="Aptos"/>
              </a:defRPr>
            </a:pPr>
            <a:r>
              <a:t>Institution-led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4764024"/>
            <a:ext cx="2377440" cy="457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" y="4882896"/>
            <a:ext cx="22311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AptoHire hypothesis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91256" y="4764024"/>
            <a:ext cx="1920240" cy="457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64408" y="4882896"/>
            <a:ext cx="17739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Profile + evidence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48072" y="4764024"/>
            <a:ext cx="2148840" cy="457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21224" y="4882896"/>
            <a:ext cx="200253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Evidence-first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33488" y="4764024"/>
            <a:ext cx="2194560" cy="457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4882896"/>
            <a:ext cx="2048255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University workflow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64624" y="4764024"/>
            <a:ext cx="1645920" cy="457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37776" y="4882896"/>
            <a:ext cx="149961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Skill-led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1">
                <a:solidFill>
                  <a:srgbClr val="667085"/>
                </a:solidFill>
                <a:latin typeface="Aptos"/>
              </a:defRPr>
            </a:pPr>
            <a:r>
              <a:t>Qualitative positioning hypothesis; feature coverage varies by provider. Validate with buyer interviews and live product comparisons.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Size the market from the buyer—not from every student.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Illustrative bottom-up planning scenarios. These are assumptions to validate, not sourced market forecasts.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83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468880"/>
            <a:ext cx="109728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00884"/>
            <a:ext cx="9509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803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172033"/>
                </a:solidFill>
                <a:latin typeface="Aptos"/>
              </a:defRPr>
            </a:pPr>
            <a:r>
              <a:t>5,000–15,000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potentially relevant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31920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F2937"/>
                </a:solidFill>
                <a:latin typeface="Aptos"/>
              </a:defRPr>
            </a:pPr>
            <a:r>
              <a:t>× ₹3–10L annual contract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87A55"/>
                </a:solidFill>
                <a:latin typeface="Aptos"/>
              </a:defRPr>
            </a:pPr>
            <a:r>
              <a:t>₹150–1,500 Cr / 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40280"/>
            <a:ext cx="3383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2468880"/>
            <a:ext cx="109728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500884"/>
            <a:ext cx="9509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71800"/>
            <a:ext cx="28803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172033"/>
                </a:solidFill>
                <a:latin typeface="Aptos"/>
              </a:defRPr>
            </a:pPr>
            <a:r>
              <a:t>500–2,000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747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initially reachable 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931920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F2937"/>
                </a:solidFill>
                <a:latin typeface="Aptos"/>
              </a:defRPr>
            </a:pPr>
            <a:r>
              <a:t>× ₹3–8L annual contract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34340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87A55"/>
                </a:solidFill>
                <a:latin typeface="Aptos"/>
              </a:defRPr>
            </a:pPr>
            <a:r>
              <a:t>₹15–160 Cr / 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240280"/>
            <a:ext cx="3383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9640" y="2468880"/>
            <a:ext cx="1097280" cy="310896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500884"/>
            <a:ext cx="95097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8A5A00"/>
                </a:solidFill>
                <a:latin typeface="Aptos"/>
              </a:defRPr>
            </a:pPr>
            <a:r>
              <a:t>3-YEAR SOM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971800"/>
            <a:ext cx="28803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172033"/>
                </a:solidFill>
                <a:latin typeface="Aptos"/>
              </a:defRPr>
            </a:pPr>
            <a:r>
              <a:t>10–50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4747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paying institutions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931920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F2937"/>
                </a:solidFill>
                <a:latin typeface="Aptos"/>
              </a:defRPr>
            </a:pPr>
            <a:r>
              <a:t>× ₹3–8L annual contract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4340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087A55"/>
                </a:solidFill>
                <a:latin typeface="Aptos"/>
              </a:defRPr>
            </a:pPr>
            <a:r>
              <a:t>₹0.3–4 Cr ARR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57800"/>
            <a:ext cx="10469880" cy="658368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58968"/>
            <a:ext cx="1001268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Validation gates: qualified account list • willingness-to-pay • pilot conversion • renewal • delivery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80760"/>
            <a:ext cx="10515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667085"/>
                </a:solidFill>
                <a:latin typeface="Aptos"/>
              </a:defRPr>
            </a:pPr>
            <a:r>
              <a:t>Scenario ranges from AptoHire’s internal planning model; institution counts and pricing are unvalidated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Start with one buyer and one measurable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Recommended sequence: institution-led B2B SaaS first; employer monetisation after trust and supply develop.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241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85416"/>
            <a:ext cx="24231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87A55"/>
                </a:solidFill>
                <a:latin typeface="Aptos"/>
              </a:defRPr>
            </a:pPr>
            <a:r>
              <a:t>01  PAID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67128"/>
            <a:ext cx="2560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Defined cohort + fixed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67128"/>
            <a:ext cx="47091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Low-friction entry; baseline and success metrics agreed up front.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104241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99816"/>
            <a:ext cx="24231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87A55"/>
                </a:solidFill>
                <a:latin typeface="Aptos"/>
              </a:defRPr>
            </a:pPr>
            <a:r>
              <a:t>02  INSTITUTION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81528"/>
            <a:ext cx="2560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Annual 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81528"/>
            <a:ext cx="47091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Recurring revenue for agreed workflows, cohorts and support.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86200"/>
            <a:ext cx="104241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14215"/>
            <a:ext cx="24231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87A55"/>
                </a:solidFill>
                <a:latin typeface="Aptos"/>
              </a:defRPr>
            </a:pPr>
            <a:r>
              <a:t>03  PREMIUM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95928"/>
            <a:ext cx="2560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Integrations /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995928"/>
            <a:ext cx="47091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Upsell only after institutions demonstrate repeated use and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104241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28616"/>
            <a:ext cx="24231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8A5A00"/>
                </a:solidFill>
                <a:latin typeface="Aptos"/>
              </a:defRPr>
            </a:pPr>
            <a:r>
              <a:t>04  EMPLOYER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10328"/>
            <a:ext cx="2560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172033"/>
                </a:solidFill>
                <a:latin typeface="Aptos"/>
              </a:defRPr>
            </a:pPr>
            <a:r>
              <a:t>Discovery / hiring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910328"/>
            <a:ext cx="47091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Expansion hypothesis after relevant candidate supply and evidence quality are proven.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058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54745"/>
                </a:solidFill>
                <a:latin typeface="Aptos"/>
              </a:defRPr>
            </a:pPr>
            <a:r>
              <a:t>Pricing is a hypothesis—not a published price list. Test pilot, core and institution-plus offers with budget owners.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GO-TO-MARKET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Win one repeatable motion before scaling the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A disciplined 90-day validation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560320"/>
            <a:ext cx="141732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92324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DAYS 1–30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788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15–20 structured conversations; at least 5 budget owners; choose one ICP.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2232" y="3337560"/>
            <a:ext cx="338327" cy="0"/>
          </a:xfrm>
          <a:prstGeom prst="line">
            <a:avLst/>
          </a:prstGeom>
          <a:ln w="25400">
            <a:solidFill>
              <a:srgbClr val="D6A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3317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00600" y="2560320"/>
            <a:ext cx="141732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2592324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6324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474720"/>
            <a:ext cx="2788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2–3 pilot proposals; named champion; baseline metrics; privacy/data review.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36992" y="3337560"/>
            <a:ext cx="338328" cy="0"/>
          </a:xfrm>
          <a:prstGeom prst="line">
            <a:avLst/>
          </a:prstGeom>
          <a:ln w="25400">
            <a:solidFill>
              <a:srgbClr val="D6A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66760" y="233172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2560320"/>
            <a:ext cx="141732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2592324"/>
            <a:ext cx="127101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DAYS 61–90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6324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72033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474720"/>
            <a:ext cx="278892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667085"/>
                </a:solidFill>
                <a:latin typeface="Aptos"/>
              </a:defRPr>
            </a:pPr>
            <a:r>
              <a:t>Run a pilot if approvals permit; measure activation, usefulness, effort and conversion intent.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92040"/>
            <a:ext cx="10424160" cy="731520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02352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087A55"/>
                </a:solidFill>
                <a:latin typeface="Aptos"/>
              </a:defRPr>
            </a:pPr>
            <a:r>
              <a:t>Scale path: one department → one institution → similar institutions → employer-side expansion → adjacent segments.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10058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North-star proof: paid conversion + repeat use + measurable buyer value—not sign-ups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D6A84F"/>
                </a:solidFill>
                <a:latin typeface="Aptos"/>
              </a:defRPr>
            </a:pPr>
            <a:r>
              <a:t>FOUNDING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8C3D1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Three founders. One focused build sprint.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D6DFE8"/>
                </a:solidFill>
                <a:latin typeface="Aptos"/>
              </a:defRPr>
            </a:pPr>
            <a:r>
              <a:t>A lean founding team combining product direction, technical execution and iterative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337560" cy="26060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606040"/>
            <a:ext cx="777240" cy="77724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RAVI PRAKASH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D6A84F"/>
                </a:solidFill>
                <a:latin typeface="Aptos"/>
              </a:defRPr>
            </a:pPr>
            <a:r>
              <a:t>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7889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D6DFE8"/>
                </a:solidFill>
                <a:latin typeface="Aptos"/>
              </a:defRPr>
            </a:pPr>
            <a:r>
              <a:t>Originated the idea and contributed to early product discussions.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3337560" cy="26060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606040"/>
            <a:ext cx="777240" cy="77724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MK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188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MANSI KUMAWAT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977639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D6A84F"/>
                </a:solidFill>
                <a:latin typeface="Aptos"/>
              </a:defRPr>
            </a:pPr>
            <a:r>
              <a:t>Co-founder &amp; Team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343400"/>
            <a:ext cx="27889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D6DFE8"/>
                </a:solidFill>
                <a:latin typeface="Aptos"/>
              </a:defRPr>
            </a:pPr>
            <a:r>
              <a:t>Led coordination, documentation and full-stack execution; drove frontend work and UI iteration.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331720"/>
            <a:ext cx="3337560" cy="260604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0" y="2606040"/>
            <a:ext cx="777240" cy="777240"/>
          </a:xfrm>
          <a:prstGeom prst="ellipse">
            <a:avLst/>
          </a:prstGeom>
          <a:solidFill>
            <a:srgbClr val="31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834640"/>
            <a:ext cx="77724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611880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LAKSHMI NARAYAN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77639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D6A84F"/>
                </a:solidFill>
                <a:latin typeface="Aptos"/>
              </a:defRPr>
            </a:pPr>
            <a:r>
              <a:t>Co-founder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343400"/>
            <a:ext cx="27889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D6DFE8"/>
                </a:solidFill>
                <a:latin typeface="Aptos"/>
              </a:defRPr>
            </a:pPr>
            <a:r>
              <a:t>Contributed technical guidance, technology/UI input and hands-on testing feedback.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49240"/>
            <a:ext cx="10287000" cy="594360"/>
          </a:xfrm>
          <a:prstGeom prst="round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532120"/>
            <a:ext cx="9829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Execution story: team formed → first prototype → reviewed alternatives → selected Version B → core prototype completed for validation.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80760"/>
            <a:ext cx="10058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1">
                <a:solidFill>
                  <a:srgbClr val="B8C3D1"/>
                </a:solidFill>
                <a:latin typeface="Aptos"/>
              </a:defRPr>
            </a:pPr>
            <a:r>
              <a:t>Roles reflect the team’s current account; no equity split or formal employment structure is implied.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AI-assisted speed. Human-led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From idea to core prototype in an intense October sprint—without confusing prototype readiness with production readiness.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46888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33472"/>
            <a:ext cx="50292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19" y="2724912"/>
            <a:ext cx="1280161" cy="0"/>
          </a:xfrm>
          <a:prstGeom prst="line">
            <a:avLst/>
          </a:prstGeom>
          <a:ln w="25400">
            <a:solidFill>
              <a:srgbClr val="A9B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2004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72033"/>
                </a:solidFill>
                <a:latin typeface="Aptos"/>
              </a:defRPr>
            </a:pPr>
            <a:r>
              <a:t>13 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1691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Coding began</a:t>
            </a:r>
          </a:p>
        </p:txBody>
      </p:sp>
      <p:sp>
        <p:nvSpPr>
          <p:cNvPr id="13" name="Oval 12"/>
          <p:cNvSpPr/>
          <p:nvPr/>
        </p:nvSpPr>
        <p:spPr>
          <a:xfrm>
            <a:off x="3410712" y="246888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633472"/>
            <a:ext cx="50292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13632" y="2724912"/>
            <a:ext cx="1280160" cy="0"/>
          </a:xfrm>
          <a:prstGeom prst="line">
            <a:avLst/>
          </a:prstGeom>
          <a:ln w="25400">
            <a:solidFill>
              <a:srgbClr val="A9B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4952" y="32004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72033"/>
                </a:solidFill>
                <a:latin typeface="Aptos"/>
              </a:defRPr>
            </a:pPr>
            <a:r>
              <a:t>17 OCT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566160"/>
            <a:ext cx="1691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First prototype</a:t>
            </a:r>
          </a:p>
        </p:txBody>
      </p:sp>
      <p:sp>
        <p:nvSpPr>
          <p:cNvPr id="18" name="Oval 17"/>
          <p:cNvSpPr/>
          <p:nvPr/>
        </p:nvSpPr>
        <p:spPr>
          <a:xfrm>
            <a:off x="5678424" y="246888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4" y="2633472"/>
            <a:ext cx="50292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81344" y="2724912"/>
            <a:ext cx="1280160" cy="0"/>
          </a:xfrm>
          <a:prstGeom prst="line">
            <a:avLst/>
          </a:prstGeom>
          <a:ln w="25400">
            <a:solidFill>
              <a:srgbClr val="A9B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12664" y="32004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72033"/>
                </a:solidFill>
                <a:latin typeface="Aptos"/>
              </a:defRPr>
            </a:pPr>
            <a:r>
              <a:t>20 OCT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566160"/>
            <a:ext cx="1691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Version A reviewed</a:t>
            </a:r>
          </a:p>
        </p:txBody>
      </p:sp>
      <p:sp>
        <p:nvSpPr>
          <p:cNvPr id="23" name="Oval 22"/>
          <p:cNvSpPr/>
          <p:nvPr/>
        </p:nvSpPr>
        <p:spPr>
          <a:xfrm>
            <a:off x="7946136" y="2468880"/>
            <a:ext cx="502920" cy="502920"/>
          </a:xfrm>
          <a:prstGeom prst="ellipse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633472"/>
            <a:ext cx="50292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49055" y="2724912"/>
            <a:ext cx="1280160" cy="0"/>
          </a:xfrm>
          <a:prstGeom prst="line">
            <a:avLst/>
          </a:prstGeom>
          <a:ln w="25400">
            <a:solidFill>
              <a:srgbClr val="A9B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0375" y="32004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72033"/>
                </a:solidFill>
                <a:latin typeface="Aptos"/>
              </a:defRPr>
            </a:pPr>
            <a:r>
              <a:t>25 OCT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566160"/>
            <a:ext cx="1691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Version B ready</a:t>
            </a:r>
          </a:p>
        </p:txBody>
      </p:sp>
      <p:sp>
        <p:nvSpPr>
          <p:cNvPr id="28" name="Oval 27"/>
          <p:cNvSpPr/>
          <p:nvPr/>
        </p:nvSpPr>
        <p:spPr>
          <a:xfrm>
            <a:off x="10213848" y="2468880"/>
            <a:ext cx="502920" cy="50292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3848" y="2633472"/>
            <a:ext cx="502920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20040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172033"/>
                </a:solidFill>
                <a:latin typeface="Aptos"/>
              </a:defRPr>
            </a:pPr>
            <a:r>
              <a:t>28 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3566160"/>
            <a:ext cx="1691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Core prototype completed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572000"/>
            <a:ext cx="10561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773168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087A55"/>
                </a:solidFill>
                <a:latin typeface="Aptos"/>
              </a:defRPr>
            </a:pPr>
            <a:r>
              <a:t>AI-ASSISTED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754880"/>
            <a:ext cx="804672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1F2937"/>
                </a:solidFill>
                <a:latin typeface="Aptos"/>
              </a:defRPr>
            </a:pPr>
            <a:r>
              <a:t>Gemini • Claude • ChatGPT • Arena AI supported research, planning, prompt refinement and coding workflows; the team reviewed, tested and iterated.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10058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B54745"/>
                </a:solidFill>
                <a:latin typeface="Aptos"/>
              </a:defRPr>
            </a:pPr>
            <a:r>
              <a:t>Next gate: final QA, security/privacy checks, deployment verification and validation of critical user 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ROADMAP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17203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667085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172033"/>
                </a:solidFill>
                <a:latin typeface="Aptos"/>
              </a:defRPr>
            </a:pPr>
            <a:r>
              <a:t>Scale only when the evidence says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667085"/>
                </a:solidFill>
                <a:latin typeface="Aptos"/>
              </a:defRPr>
            </a:pPr>
            <a:r>
              <a:t>A staged roadmap keeps the team focused and reduces trust, adoption and marketplace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487168"/>
            <a:ext cx="91440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19172"/>
            <a:ext cx="768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2834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Validate the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834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Feature-by-feature QA; privacy/access review; verify core user journeys.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24028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487168"/>
            <a:ext cx="914400" cy="310896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519172"/>
            <a:ext cx="768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087A5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71800"/>
            <a:ext cx="2834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Prove buyer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83280"/>
            <a:ext cx="2834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Customer interviews; pilot; baseline and outcome metrics; willingness-to-pay.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40280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487168"/>
            <a:ext cx="914400" cy="310896"/>
          </a:xfrm>
          <a:prstGeom prst="roundRect">
            <a:avLst/>
          </a:prstGeom>
          <a:solidFill>
            <a:srgbClr val="FFF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519172"/>
            <a:ext cx="768096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8A5A00"/>
                </a:solidFill>
                <a:latin typeface="Aptos"/>
              </a:defRPr>
            </a:pPr>
            <a: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971800"/>
            <a:ext cx="2834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72033"/>
                </a:solidFill>
                <a:latin typeface="Aptos"/>
              </a:defRPr>
            </a:pPr>
            <a:r>
              <a:t>Repeat &amp; 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83280"/>
            <a:ext cx="2834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667085"/>
                </a:solidFill>
                <a:latin typeface="Aptos"/>
              </a:defRPr>
            </a:pPr>
            <a:r>
              <a:t>Convert pilots; improve onboarding; employer workflows; integrations after demand.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B54745"/>
                </a:solidFill>
                <a:latin typeface="Aptos"/>
              </a:defRPr>
            </a:pPr>
            <a:r>
              <a:t>RISKS TO MANAGE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92040"/>
            <a:ext cx="10561320" cy="594360"/>
          </a:xfrm>
          <a:prstGeom prst="round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058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Institutional sales cycles  •  student activation  •  evidence quality  •  privacy/security  •  bias and fairness  •  delivery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1498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87A55"/>
                </a:solidFill>
                <a:latin typeface="Aptos"/>
              </a:defRPr>
            </a:pPr>
            <a:r>
              <a:t>Trust is not a slide—it is a product requirement: consent, least privilege, correction paths and human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400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D6A84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7315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800" b="0" i="0">
                <a:solidFill>
                  <a:srgbClr val="B8C3D1"/>
                </a:solidFill>
                <a:latin typeface="Aptos"/>
              </a:defRPr>
            </a:pPr>
            <a:r>
              <a:t>APTOHIRE  •  INVESTOR / JUDGING DECK  •  30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FFFFFF"/>
                </a:solidFill>
                <a:latin typeface="Aptos"/>
              </a:defRPr>
            </a:pPr>
            <a:r>
              <a:t>Help us prove the model—and build what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D6DFE8"/>
                </a:solidFill>
                <a:latin typeface="Aptos"/>
              </a:defRPr>
            </a:pPr>
            <a:r>
              <a:t>We are seeking the right pilot partners, mentors and early-stage support to validate AptoHire’s first repeatable use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337560" cy="150876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D6A84F"/>
                </a:solidFill>
                <a:latin typeface="Aptos"/>
              </a:defRPr>
            </a:pPr>
            <a:r>
              <a:t>PILOT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78892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D6DFE8"/>
                </a:solidFill>
                <a:latin typeface="Aptos"/>
              </a:defRPr>
            </a:pPr>
            <a:r>
              <a:t>Universities / placement teams willing to co-design a measurable 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3337560" cy="150876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D6A84F"/>
                </a:solidFill>
                <a:latin typeface="Aptos"/>
              </a:defRPr>
            </a:pPr>
            <a:r>
              <a:t>BUYER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63240"/>
            <a:ext cx="278892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D6DFE8"/>
                </a:solidFill>
                <a:latin typeface="Aptos"/>
              </a:defRPr>
            </a:pPr>
            <a:r>
              <a:t>Introductions to decision-makers and employers who can pressure-test the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31720"/>
            <a:ext cx="3337560" cy="1508760"/>
          </a:xfrm>
          <a:prstGeom prst="roundRect">
            <a:avLst/>
          </a:prstGeom>
          <a:solidFill>
            <a:srgbClr val="25334A"/>
          </a:solidFill>
          <a:ln w="12700">
            <a:solidFill>
              <a:srgbClr val="3D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06040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D6A84F"/>
                </a:solidFill>
                <a:latin typeface="Aptos"/>
              </a:defRPr>
            </a:pPr>
            <a:r>
              <a:t>BUILD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8892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D6DFE8"/>
                </a:solidFill>
                <a:latin typeface="Aptos"/>
              </a:defRPr>
            </a:pPr>
            <a:r>
              <a:t>Mentorship and funding conversations tied to clear validation milestones.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24128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We’re not asking you to believe a forecast.</a:t>
            </a:r>
          </a:p>
          <a:p>
            <a:pPr algn="ctr">
              <a:spcAft>
                <a:spcPts val="5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We’re asking you to help us validate a better hiring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5440680"/>
            <a:ext cx="5120640" cy="530352"/>
          </a:xfrm>
          <a:prstGeom prst="round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5596128"/>
            <a:ext cx="47548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APTOHIRE  •  PROVE SKILLS. MATCH POTENTIAL.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6080760"/>
            <a:ext cx="41148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B8C3D1"/>
                </a:solidFill>
                <a:latin typeface="Aptos"/>
              </a:defRPr>
            </a:pPr>
            <a:r>
              <a:t>aptohire.vercel.app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