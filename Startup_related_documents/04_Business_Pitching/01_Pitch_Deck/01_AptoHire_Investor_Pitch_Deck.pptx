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1143000"/>
            <a:ext cx="2834640" cy="2834640"/>
          </a:xfrm>
          <a:prstGeom prst="ellipse">
            <a:avLst/>
          </a:prstGeom>
          <a:noFill/>
          <a:ln w="254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371600"/>
            <a:ext cx="2103120" cy="2103120"/>
          </a:xfrm>
          <a:prstGeom prst="ellipse">
            <a:avLst/>
          </a:prstGeom>
          <a:noFill/>
          <a:ln w="254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1600200"/>
            <a:ext cx="1371600" cy="1371600"/>
          </a:xfrm>
          <a:prstGeom prst="ellipse">
            <a:avLst/>
          </a:prstGeom>
          <a:noFill/>
          <a:ln w="25400">
            <a:solidFill>
              <a:srgbClr val="EA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1323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D6A84F"/>
                </a:solidFill>
                <a:latin typeface="Aptos"/>
              </a:defRPr>
            </a:pPr>
            <a:r>
              <a:t>BUSINESS &amp; PITCHING  |  INVESTOR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713232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"/>
              </a:defRPr>
            </a:pPr>
            <a:r>
              <a:t>AptoHire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685800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EAF5EF"/>
                </a:solidFill>
                <a:latin typeface="Aptos"/>
              </a:defRPr>
            </a:pPr>
            <a:r>
              <a:t>Make capability visible.</a:t>
            </a:r>
            <a:br/>
            <a:r>
              <a:t>Make opportunity more discoverable.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60"/>
            <a:ext cx="685800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A skills-evidence ecosystem concept connecting students, universities, and employers.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080760"/>
            <a:ext cx="68580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DCE3E0"/>
                </a:solidFill>
                <a:latin typeface="Aptos"/>
              </a:defRPr>
            </a:pPr>
            <a:r>
              <a:t>Working investor narrative • 30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The problem: potential is hard to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698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172033"/>
                </a:solidFill>
                <a:latin typeface="Aptos"/>
              </a:defRPr>
            </a:pPr>
            <a:r>
              <a:t>CVs and credentials often compress a person’s capabilities into a thin summary.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429000" cy="19659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64008" cy="196596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For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79192"/>
            <a:ext cx="3108960" cy="13441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Projects, practical skills and growth can be difficult to communicate consistently.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19659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64008" cy="196596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For universities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79192"/>
            <a:ext cx="3108960" cy="13441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Career teams need clearer, comparable evidence to support student development and employer engagement.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429000" cy="19659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64008" cy="196596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28600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For employers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79192"/>
            <a:ext cx="3108960" cy="13441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Early-career screening can be noisy when evidence of capability is fragmented across platforms.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10424160" cy="7315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Evidence note: this is the product’s problem hypothesis, informed by qualitative anecdote—not a quantified market finding.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The solution: an evidence-linked skills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172033"/>
                </a:solidFill>
                <a:latin typeface="Aptos"/>
              </a:defRPr>
            </a:pPr>
            <a:r>
              <a:t>AptoHire aims to make skills easier to demonstrate, discover and develop.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429000" cy="214884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64008" cy="214884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Build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3108960" cy="1527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Students curate projects, skills, assessments and proof of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214884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64008" cy="214884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Support 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87752"/>
            <a:ext cx="3108960" cy="1527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Universities gain structured skill visibility and career-readiness insights.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429000" cy="214884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64008" cy="214884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1945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Enable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87752"/>
            <a:ext cx="3108960" cy="1527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Employers can discover relevant candidates with consent-led identity disclosure.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105156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087A55"/>
                </a:solidFill>
                <a:latin typeface="Aptos"/>
              </a:defRPr>
            </a:pPr>
            <a:r>
              <a:t>Product principle: evidence first; privacy and candidate control by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How the ecosystem could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14600" cy="224028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224028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01  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2194560" cy="1618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Student builds a profile and adds project/skill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2606040"/>
            <a:ext cx="320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087A5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514600" cy="224028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64008" cy="224028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65960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02 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59152"/>
            <a:ext cx="2194560" cy="1618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Evidence may be reviewed or assessed through defined workflows.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606040"/>
            <a:ext cx="320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087A5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28800"/>
            <a:ext cx="2514600" cy="224028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828800"/>
            <a:ext cx="64008" cy="224028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965960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03 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59152"/>
            <a:ext cx="2194560" cy="1618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Student controls when and with whom identity is disclosed.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606040"/>
            <a:ext cx="320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087A5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828800"/>
            <a:ext cx="2514600" cy="224028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26880" y="1828800"/>
            <a:ext cx="64008" cy="224028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1965960"/>
            <a:ext cx="21945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04  Discover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59152"/>
            <a:ext cx="2194560" cy="1618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University and employer workflows turn evidence into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105156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These are intended workflows; production readiness and verification coverage must be confirmed feature by feature.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Value proposition by stakeholder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31089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310896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2033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3108960" cy="2487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53044"/>
                </a:solidFill>
                <a:latin typeface="Aptos"/>
              </a:defRPr>
            </a:pPr>
            <a:r>
              <a:t>• Show work, not only claims</a:t>
            </a:r>
            <a:br/>
            <a:r>
              <a:t>• Reuse a shareable skill profile</a:t>
            </a:r>
            <a:br/>
            <a:r>
              <a:t>• Control identity disclosure</a:t>
            </a:r>
            <a:br/>
            <a:r>
              <a:t>• Identify evidence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31089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64008" cy="310896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2033"/>
                </a:solidFill>
                <a:latin typeface="Aptos"/>
              </a:defRPr>
            </a:pPr>
            <a:r>
              <a:t>Universities — initial buyer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108960" cy="2487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53044"/>
                </a:solidFill>
                <a:latin typeface="Aptos"/>
              </a:defRPr>
            </a:pPr>
            <a:r>
              <a:t>• Improve visibility into student skills</a:t>
            </a:r>
            <a:br/>
            <a:r>
              <a:t>• Support career services</a:t>
            </a:r>
            <a:br/>
            <a:r>
              <a:t>• Identify common skill gaps</a:t>
            </a:r>
            <a:br/>
            <a:r>
              <a:t>• Create employer-facing talent pathways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29000" cy="31089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64008" cy="310896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72033"/>
                </a:solidFill>
                <a:latin typeface="Aptos"/>
              </a:defRPr>
            </a:pPr>
            <a:r>
              <a:t>Employers — later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47672"/>
            <a:ext cx="3108960" cy="2487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253044"/>
                </a:solidFill>
                <a:latin typeface="Aptos"/>
              </a:defRPr>
            </a:pPr>
            <a:r>
              <a:t>• Explore structured evidence</a:t>
            </a:r>
            <a:br/>
            <a:r>
              <a:t>• Reduce fragmented candidate research</a:t>
            </a:r>
            <a:br/>
            <a:r>
              <a:t>• Build institution relationships</a:t>
            </a:r>
            <a:br/>
            <a:r>
              <a:t>• Discover early-career talent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172033"/>
                </a:solidFill>
                <a:latin typeface="Aptos"/>
              </a:defRPr>
            </a:pPr>
            <a:r>
              <a:t>Commercial focus: prove a repeatable university use case before expanding monetisation to employers.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Market context: a large problem space, focused entry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210312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64008" cy="210312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Demand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3108960" cy="1481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India has a large higher-education population. AISHE 2022–23 reported approximately 4.46 crore students.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210312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64008" cy="210312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Skills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108960" cy="1481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Mercer’s 2025 study reported 42.6% employability among graduates who applied for jobs in its assessment.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429000" cy="210312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64008" cy="210312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Beachhead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01952"/>
            <a:ext cx="3108960" cy="148132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Start with selected universities and a specific career-readiness / skill-evidence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1069848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667085"/>
                </a:solidFill>
                <a:latin typeface="Aptos"/>
              </a:defRPr>
            </a:pPr>
            <a:r>
              <a:t>Market sizing should be treated as a model, not a verified forecast. Validate target institution counts, procurement budgets, conversion rates and willingness to pay.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698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667085"/>
                </a:solidFill>
                <a:latin typeface="Aptos"/>
              </a:defRPr>
            </a:pPr>
            <a:r>
              <a:t>Sources: AISHE reports (aishe.gov.in); Mercer India Graduate Skill Index 2025 (mercer.com). Figures describe context, not AptoHire’s addressable market or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Business model: university-first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237744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64008" cy="237744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1 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3108960" cy="1755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Paid, scoped pilot to test adoption, workflows, value and implementation effort.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237744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64008" cy="237744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2  Annual licence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47672"/>
            <a:ext cx="3108960" cy="1755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Institution-level annual licence after a successful pilot; pricing depends on scope and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29000" cy="237744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64008" cy="237744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55448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3  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47672"/>
            <a:ext cx="3108960" cy="1755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Optional onboarding / integration services; employer subscriptions considered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Students: free during early validation. No prices, revenue or contracts are represented as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Go-to-market: prove value, then repeat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274320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64008" cy="27432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Phase 1 • 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3108960" cy="21214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Interview university career services, placement teams and students. Select one high-friction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274320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64008" cy="274320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Phase 2 •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108960" cy="21214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Run a tightly scoped pilot with agreed success measures, adoption targets and privacy safeguards.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429000" cy="274320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64008" cy="27432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Phase 3 • 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01952"/>
            <a:ext cx="3108960" cy="21214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Convert successful pilots to annual licences; document onboarding and outcomes before scaling.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1051560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Suggested pilot measures: active student profiles, evidence completeness, university staff usage, employer engagement, time-to-shortlist and renewal intent.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Competitive landscape: differentiate on evidence + institution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228600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64008" cy="22860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72033"/>
                </a:solidFill>
                <a:latin typeface="Aptos"/>
              </a:defRPr>
            </a:pPr>
            <a:r>
              <a:t>Job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3108960" cy="1664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Strong discovery and applications; AptoHire’s intended emphasis is evidence-linked skill profiles and institution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228600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64008" cy="228600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72033"/>
                </a:solidFill>
                <a:latin typeface="Aptos"/>
              </a:defRPr>
            </a:pPr>
            <a:r>
              <a:t>Professional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108960" cy="1664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Broad reach and self-reported profiles; AptoHire can focus on structured proof and consent-led sharing.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429000" cy="228600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64008" cy="22860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72033"/>
                </a:solidFill>
                <a:latin typeface="Aptos"/>
              </a:defRPr>
            </a:pPr>
            <a:r>
              <a:t>Assessment / campus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01952"/>
            <a:ext cx="3108960" cy="1664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253044"/>
                </a:solidFill>
                <a:latin typeface="Aptos"/>
              </a:defRPr>
            </a:pPr>
            <a:r>
              <a:t>Can offer tests or recruitment workflows; AptoHire aims to connect student evidence, university insight and discovery.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06240"/>
            <a:ext cx="1042416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This is a positioning hypothesis, not a claim that competitors lack these features. Validate with current product research and customer interviews.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Current stage: validation before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24231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64008" cy="242316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What exists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3108960" cy="18013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Product concept, website/prototype work and a customer-validation survey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24231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64008" cy="242316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What is not evidenced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01952"/>
            <a:ext cx="3108960" cy="18013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No verified survey response export, paying customers, revenue, signed pilots or retention metrics supplied.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429000" cy="242316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71600"/>
            <a:ext cx="64008" cy="242316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Next proof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01952"/>
            <a:ext cx="3108960" cy="180136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253044"/>
                </a:solidFill>
                <a:latin typeface="Aptos"/>
              </a:defRPr>
            </a:pPr>
            <a:r>
              <a:t>Customer interviews, pilot LOIs, measurable usage, security review and willingness-to-pay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1060704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172033"/>
                </a:solidFill>
                <a:latin typeface="Aptos"/>
              </a:defRPr>
            </a:pPr>
            <a:r>
              <a:t>Do not present the survey link itself as traction. Add verified metrics only after evidence is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72033"/>
                </a:solidFill>
                <a:latin typeface="Aptos"/>
              </a:defRPr>
            </a:pPr>
            <a:r>
              <a:t>Team &amp; execution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60120" cy="54864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667085"/>
                </a:solidFill>
                <a:latin typeface="Aptos"/>
              </a:defRPr>
            </a:pPr>
            <a:r>
              <a:t>APTOHIRE  •  BUSINESS &amp; PITCHING  •  WORKING INVESTOR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200" b="1">
                <a:solidFill>
                  <a:srgbClr val="172033"/>
                </a:solidFill>
                <a:latin typeface="Aptos"/>
              </a:defRPr>
            </a:pPr>
            <a:r>
              <a:t>Founder-led product development with a staged build-and-validate approach.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4892040" cy="228600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64008" cy="2286000"/>
          </a:xfrm>
          <a:prstGeom prst="rect">
            <a:avLst/>
          </a:prstGeom>
          <a:solidFill>
            <a:srgbClr val="08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Execution strengths to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70632"/>
            <a:ext cx="4572000" cy="1664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53044"/>
                </a:solidFill>
                <a:latin typeface="Aptos"/>
              </a:defRPr>
            </a:pPr>
            <a:r>
              <a:t>• Product concept and web prototype work</a:t>
            </a:r>
            <a:br/>
            <a:r>
              <a:t>• Full-stack development learning / internship experience</a:t>
            </a:r>
            <a:br/>
            <a:r>
              <a:t>• Structured documentation and customer discovery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40280"/>
            <a:ext cx="4892040" cy="2286000"/>
          </a:xfrm>
          <a:prstGeom prst="roundRect">
            <a:avLst/>
          </a:prstGeom>
          <a:solidFill>
            <a:srgbClr val="F4F7F5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240280"/>
            <a:ext cx="64008" cy="2286000"/>
          </a:xfrm>
          <a:prstGeom prst="rect">
            <a:avLst/>
          </a:prstGeom>
          <a:solidFill>
            <a:srgbClr val="D6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40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72033"/>
                </a:solidFill>
                <a:latin typeface="Aptos"/>
              </a:defRPr>
            </a:pPr>
            <a:r>
              <a:t>Team gaps to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70632"/>
            <a:ext cx="4572000" cy="166420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0">
                <a:solidFill>
                  <a:srgbClr val="253044"/>
                </a:solidFill>
                <a:latin typeface="Aptos"/>
              </a:defRPr>
            </a:pPr>
            <a:r>
              <a:t>• University sales / partnerships</a:t>
            </a:r>
            <a:br/>
            <a:r>
              <a:t>• Security and privacy review</a:t>
            </a:r>
            <a:br/>
            <a:r>
              <a:t>• UX research and implementation support</a:t>
            </a:r>
            <a:br/>
            <a:r>
              <a:t>• Named advisors or hires only when 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102412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Founder identity, team biographies and formal roles must be completed by the founder before external circulation.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300" b="1">
                <a:solidFill>
                  <a:srgbClr val="D6A84F"/>
                </a:solidFill>
                <a:latin typeface="Aptos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Seeking design partners before scaling.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2377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800" b="0">
                <a:solidFill>
                  <a:srgbClr val="EAF5EF"/>
                </a:solidFill>
                <a:latin typeface="Aptos"/>
              </a:defRPr>
            </a:pPr>
            <a:r>
              <a:t>Priority asks</a:t>
            </a:r>
            <a:br/>
            <a:r>
              <a:t>• University design partners</a:t>
            </a:r>
            <a:br/>
            <a:r>
              <a:t>• Pilot access and workflow feedback</a:t>
            </a:r>
            <a:br/>
            <a:r>
              <a:t>• Introductions to placement / career teams</a:t>
            </a:r>
            <a:br/>
            <a:r>
              <a:t>• Product and privacy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240280"/>
            <a:ext cx="4937760" cy="2377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Funding status</a:t>
            </a:r>
            <a:br/>
            <a:r>
              <a:t>No funding amount, valuation, runway or use-of-funds budget has been confirmed. Insert a funding ask only after costs, milestones and instrument are agreed.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070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DCE3E0"/>
                </a:solidFill>
                <a:latin typeface="Aptos"/>
              </a:defRPr>
            </a:pPr>
            <a:r>
              <a:t>AptoHire • https://aptohire.vercel.app  |  Working narrative, not an offer to sell securities.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